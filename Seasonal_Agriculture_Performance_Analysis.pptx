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4" r:id="rId11"/>
    <p:sldId id="345" r:id="rId12"/>
    <p:sldId id="348" r:id="rId13"/>
    <p:sldId id="346" r:id="rId14"/>
    <p:sldId id="349"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8481"/>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6" d="100"/>
          <a:sy n="66" d="100"/>
        </p:scale>
        <p:origin x="588"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3.png"/><Relationship Id="rId1" Type="http://schemas.openxmlformats.org/officeDocument/2006/relationships/slideLayout" Target="../slideLayouts/slideLayout19.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Disha-Singhvi/Seasonal-Agriculture-Performance-Analysi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7" name="Picture 6">
            <a:extLst>
              <a:ext uri="{FF2B5EF4-FFF2-40B4-BE49-F238E27FC236}">
                <a16:creationId xmlns:a16="http://schemas.microsoft.com/office/drawing/2014/main" id="{EDA70704-50C2-D252-FF84-90CEDBE751F2}"/>
              </a:ext>
            </a:extLst>
          </p:cNvPr>
          <p:cNvPicPr>
            <a:picLocks noChangeAspect="1"/>
          </p:cNvPicPr>
          <p:nvPr/>
        </p:nvPicPr>
        <p:blipFill>
          <a:blip r:embed="rId3"/>
          <a:stretch>
            <a:fillRect/>
          </a:stretch>
        </p:blipFill>
        <p:spPr>
          <a:xfrm>
            <a:off x="3291303" y="5110085"/>
            <a:ext cx="3332058" cy="742074"/>
          </a:xfrm>
          <a:prstGeom prst="rect">
            <a:avLst/>
          </a:prstGeom>
        </p:spPr>
      </p:pic>
      <p:sp>
        <p:nvSpPr>
          <p:cNvPr id="13" name="Text Placeholder 1">
            <a:extLst>
              <a:ext uri="{FF2B5EF4-FFF2-40B4-BE49-F238E27FC236}">
                <a16:creationId xmlns:a16="http://schemas.microsoft.com/office/drawing/2014/main" id="{7201737A-B873-4D1D-8A41-5ABF5184BC8F}"/>
              </a:ext>
            </a:extLst>
          </p:cNvPr>
          <p:cNvSpPr txBox="1">
            <a:spLocks/>
          </p:cNvSpPr>
          <p:nvPr/>
        </p:nvSpPr>
        <p:spPr>
          <a:xfrm>
            <a:off x="1003216" y="4569723"/>
            <a:ext cx="10997524" cy="1017068"/>
          </a:xfrm>
          <a:prstGeom prst="rect">
            <a:avLst/>
          </a:prstGeom>
        </p:spPr>
        <p:txBody>
          <a:bodyPr vert="horz" lIns="91440" tIns="45720" rIns="91440" bIns="45720" rtlCol="0" anchor="t">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800" b="0" dirty="0">
                <a:solidFill>
                  <a:schemeClr val="tx1"/>
                </a:solidFill>
              </a:rPr>
              <a:t>Student Name - Disha Singhvi</a:t>
            </a:r>
            <a:endParaRPr lang="en-IN" sz="2800" b="0" dirty="0">
              <a:solidFill>
                <a:schemeClr val="tx1"/>
              </a:solidFill>
            </a:endParaRPr>
          </a:p>
          <a:p>
            <a:r>
              <a:rPr lang="en-US" sz="2800" b="0" dirty="0">
                <a:solidFill>
                  <a:schemeClr val="tx1"/>
                </a:solidFill>
              </a:rPr>
              <a:t>College Name – MBM University</a:t>
            </a:r>
            <a:endParaRPr lang="en-IN" sz="2800" b="0" dirty="0">
              <a:solidFill>
                <a:schemeClr val="tx1"/>
              </a:solidFill>
            </a:endParaRPr>
          </a:p>
        </p:txBody>
      </p:sp>
      <p:sp>
        <p:nvSpPr>
          <p:cNvPr id="14" name="Title 3">
            <a:extLst>
              <a:ext uri="{FF2B5EF4-FFF2-40B4-BE49-F238E27FC236}">
                <a16:creationId xmlns:a16="http://schemas.microsoft.com/office/drawing/2014/main" id="{92056599-CDAA-4367-BEF8-31D6E32518C8}"/>
              </a:ext>
            </a:extLst>
          </p:cNvPr>
          <p:cNvSpPr txBox="1">
            <a:spLocks/>
          </p:cNvSpPr>
          <p:nvPr/>
        </p:nvSpPr>
        <p:spPr>
          <a:xfrm>
            <a:off x="1003215" y="3128667"/>
            <a:ext cx="9796329" cy="1113973"/>
          </a:xfrm>
          <a:prstGeom prst="rect">
            <a:avLst/>
          </a:prstGeom>
        </p:spPr>
        <p:txBody>
          <a:bodyPr vert="horz" lIns="91440" tIns="45720" rIns="91440" bIns="45720" rtlCol="0" anchor="t">
            <a:noAutofit/>
          </a:bodyPr>
          <a:lstStyle>
            <a:lvl1pPr algn="l" defTabSz="457200" rtl="0" eaLnBrk="1" latinLnBrk="0" hangingPunct="1">
              <a:spcBef>
                <a:spcPct val="0"/>
              </a:spcBef>
              <a:buNone/>
              <a:defRPr sz="2800" kern="1200">
                <a:solidFill>
                  <a:schemeClr val="tx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600"/>
              </a:spcBef>
              <a:spcAft>
                <a:spcPts val="600"/>
              </a:spcAft>
            </a:pPr>
            <a:r>
              <a:rPr lang="en-GB" sz="3200" b="1" dirty="0"/>
              <a:t>Project Title – </a:t>
            </a:r>
          </a:p>
          <a:p>
            <a:pPr>
              <a:spcBef>
                <a:spcPts val="600"/>
              </a:spcBef>
              <a:spcAft>
                <a:spcPts val="600"/>
              </a:spcAft>
            </a:pPr>
            <a:r>
              <a:rPr lang="en-IN" sz="3200" b="1" u="sng" dirty="0"/>
              <a:t>SEASONAL AGRICULTURE PERFORMANCE ANALYSIS</a:t>
            </a:r>
          </a:p>
        </p:txBody>
      </p:sp>
      <p:sp>
        <p:nvSpPr>
          <p:cNvPr id="16" name="TextBox 15">
            <a:extLst>
              <a:ext uri="{FF2B5EF4-FFF2-40B4-BE49-F238E27FC236}">
                <a16:creationId xmlns:a16="http://schemas.microsoft.com/office/drawing/2014/main" id="{17F04107-8754-E47D-3375-529E689711FA}"/>
              </a:ext>
            </a:extLst>
          </p:cNvPr>
          <p:cNvSpPr txBox="1"/>
          <p:nvPr/>
        </p:nvSpPr>
        <p:spPr>
          <a:xfrm>
            <a:off x="1003215" y="5683173"/>
            <a:ext cx="7441388" cy="461665"/>
          </a:xfrm>
          <a:prstGeom prst="rect">
            <a:avLst/>
          </a:prstGeom>
          <a:noFill/>
        </p:spPr>
        <p:txBody>
          <a:bodyPr wrap="square" rtlCol="0">
            <a:spAutoFit/>
          </a:bodyPr>
          <a:lstStyle/>
          <a:p>
            <a:r>
              <a:rPr lang="en-US" sz="2400" b="1" dirty="0"/>
              <a:t>AICTE STU ID - (STU6a6b4b82e0d701785416578)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
                                          </p:val>
                                        </p:tav>
                                        <p:tav tm="100000">
                                          <p:val>
                                            <p:strVal val="#ppt_w"/>
                                          </p:val>
                                        </p:tav>
                                      </p:tavLst>
                                    </p:anim>
                                    <p:anim calcmode="lin" valueType="num">
                                      <p:cBhvr>
                                        <p:cTn id="15" dur="500" fill="hold"/>
                                        <p:tgtEl>
                                          <p:spTgt spid="14"/>
                                        </p:tgtEl>
                                        <p:attrNameLst>
                                          <p:attrName>ppt_h</p:attrName>
                                        </p:attrNameLst>
                                      </p:cBhvr>
                                      <p:tavLst>
                                        <p:tav tm="0">
                                          <p:val>
                                            <p:fltVal val="0"/>
                                          </p:val>
                                        </p:tav>
                                        <p:tav tm="100000">
                                          <p:val>
                                            <p:strVal val="#ppt_h"/>
                                          </p:val>
                                        </p:tav>
                                      </p:tavLst>
                                    </p:anim>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barn(inVertical)">
                                      <p:cBhvr>
                                        <p:cTn id="21" dur="500"/>
                                        <p:tgtEl>
                                          <p:spTgt spid="13">
                                            <p:txEl>
                                              <p:pRg st="0" end="0"/>
                                            </p:txEl>
                                          </p:spTgt>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3">
                                            <p:txEl>
                                              <p:pRg st="1" end="1"/>
                                            </p:txEl>
                                          </p:spTgt>
                                        </p:tgtEl>
                                        <p:attrNameLst>
                                          <p:attrName>style.visibility</p:attrName>
                                        </p:attrNameLst>
                                      </p:cBhvr>
                                      <p:to>
                                        <p:strVal val="visible"/>
                                      </p:to>
                                    </p:set>
                                    <p:animEffect transition="in" filter="barn(inVertical)">
                                      <p:cBhvr>
                                        <p:cTn id="24" dur="500"/>
                                        <p:tgtEl>
                                          <p:spTgt spid="13">
                                            <p:txEl>
                                              <p:pRg st="1" end="1"/>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3" grpId="0" build="allAtOnce"/>
      <p:bldP spid="14"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581347" y="485243"/>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pic>
        <p:nvPicPr>
          <p:cNvPr id="3" name="Picture 2">
            <a:extLst>
              <a:ext uri="{FF2B5EF4-FFF2-40B4-BE49-F238E27FC236}">
                <a16:creationId xmlns:a16="http://schemas.microsoft.com/office/drawing/2014/main" id="{0F221289-309B-4480-7436-5D9793EDA48A}"/>
              </a:ext>
            </a:extLst>
          </p:cNvPr>
          <p:cNvPicPr>
            <a:picLocks noChangeAspect="1"/>
          </p:cNvPicPr>
          <p:nvPr/>
        </p:nvPicPr>
        <p:blipFill>
          <a:blip r:embed="rId4"/>
          <a:stretch>
            <a:fillRect/>
          </a:stretch>
        </p:blipFill>
        <p:spPr>
          <a:xfrm>
            <a:off x="6654344" y="1535499"/>
            <a:ext cx="2181225" cy="485775"/>
          </a:xfrm>
          <a:prstGeom prst="rect">
            <a:avLst/>
          </a:prstGeom>
        </p:spPr>
      </p:pic>
      <p:sp>
        <p:nvSpPr>
          <p:cNvPr id="9"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81347" y="1398027"/>
            <a:ext cx="6995604" cy="4643212"/>
          </a:xfrm>
        </p:spPr>
        <p:txBody>
          <a:bodyPr vert="horz" lIns="91440" tIns="45720" rIns="91440" bIns="45720" rtlCol="0" anchor="t">
            <a:noAutofit/>
          </a:bodyPr>
          <a:lstStyle/>
          <a:p>
            <a:pPr marL="0" indent="0" algn="just">
              <a:lnSpc>
                <a:spcPct val="100000"/>
              </a:lnSpc>
              <a:buNone/>
            </a:pPr>
            <a:r>
              <a:rPr lang="en-US" sz="2300" dirty="0"/>
              <a:t>Agricultural activities are influenced by seasonal variations in environmental conditions, farming practices, resource availability and market conditions. As a result, agricultural performance may differ from one season to another. </a:t>
            </a:r>
          </a:p>
          <a:p>
            <a:pPr marL="0" indent="0" algn="just">
              <a:lnSpc>
                <a:spcPct val="100000"/>
              </a:lnSpc>
              <a:buNone/>
            </a:pPr>
            <a:r>
              <a:rPr lang="en-US" sz="2300" dirty="0"/>
              <a:t>However, raw agricultural data does not clearly explain how agricultural performance changes across seasons or what patterns can be observed in different seasonal conditions. </a:t>
            </a:r>
          </a:p>
          <a:p>
            <a:pPr marL="0" indent="0" algn="just">
              <a:lnSpc>
                <a:spcPct val="100000"/>
              </a:lnSpc>
              <a:buNone/>
            </a:pPr>
            <a:r>
              <a:rPr lang="en-US" sz="2300" dirty="0"/>
              <a:t>The problem is to analyze the given agricultural dataset and investigate seasonal differences in agricultural performance by identifying meaningful patterns, trends, relationships and variations within the available data.</a:t>
            </a:r>
            <a:endParaRPr lang="en-IN" sz="2300"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fade">
                                      <p:cBhvr>
                                        <p:cTn id="21" dur="1000"/>
                                        <p:tgtEl>
                                          <p:spTgt spid="9">
                                            <p:txEl>
                                              <p:pRg st="1" end="1"/>
                                            </p:txEl>
                                          </p:spTgt>
                                        </p:tgtEl>
                                      </p:cBhvr>
                                    </p:animEffect>
                                    <p:anim calcmode="lin" valueType="num">
                                      <p:cBhvr>
                                        <p:cTn id="22"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1000"/>
                                        <p:tgtEl>
                                          <p:spTgt spid="9">
                                            <p:txEl>
                                              <p:pRg st="2" end="2"/>
                                            </p:txEl>
                                          </p:spTgt>
                                        </p:tgtEl>
                                      </p:cBhvr>
                                    </p:animEffect>
                                    <p:anim calcmode="lin" valueType="num">
                                      <p:cBhvr>
                                        <p:cTn id="29"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30823" y="482417"/>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7" name="Picture 6">
            <a:extLst>
              <a:ext uri="{FF2B5EF4-FFF2-40B4-BE49-F238E27FC236}">
                <a16:creationId xmlns:a16="http://schemas.microsoft.com/office/drawing/2014/main" id="{E3DE49CD-930D-6B50-03AF-A0B20F754C78}"/>
              </a:ext>
            </a:extLst>
          </p:cNvPr>
          <p:cNvPicPr>
            <a:picLocks noChangeAspect="1"/>
          </p:cNvPicPr>
          <p:nvPr/>
        </p:nvPicPr>
        <p:blipFill>
          <a:blip r:embed="rId3"/>
          <a:stretch>
            <a:fillRect/>
          </a:stretch>
        </p:blipFill>
        <p:spPr>
          <a:xfrm>
            <a:off x="5461266" y="1608292"/>
            <a:ext cx="2691332" cy="516563"/>
          </a:xfrm>
          <a:prstGeom prst="rect">
            <a:avLst/>
          </a:prstGeom>
        </p:spPr>
      </p:pic>
      <p:sp>
        <p:nvSpPr>
          <p:cNvPr id="8" name="Text Placeholder 1">
            <a:extLst>
              <a:ext uri="{FF2B5EF4-FFF2-40B4-BE49-F238E27FC236}">
                <a16:creationId xmlns:a16="http://schemas.microsoft.com/office/drawing/2014/main" id="{1B1DA6DA-3060-F673-5E1D-0C74E2477315}"/>
              </a:ext>
            </a:extLst>
          </p:cNvPr>
          <p:cNvSpPr txBox="1">
            <a:spLocks/>
          </p:cNvSpPr>
          <p:nvPr/>
        </p:nvSpPr>
        <p:spPr>
          <a:xfrm>
            <a:off x="937367" y="1554091"/>
            <a:ext cx="8014127" cy="4999170"/>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300" dirty="0"/>
              <a:t>This project performs exploratory and statistical data analysis on agricultural data to understand how farming performance varies across Kharif, Rabi and Zaid seasons.</a:t>
            </a:r>
          </a:p>
          <a:p>
            <a:r>
              <a:rPr lang="en-US" sz="2300" dirty="0"/>
              <a:t>The dataset contains </a:t>
            </a:r>
            <a:r>
              <a:rPr lang="en-US" sz="2300" b="1" dirty="0"/>
              <a:t>4,000 records and 28 variables</a:t>
            </a:r>
            <a:r>
              <a:rPr lang="en-US" sz="2300" dirty="0"/>
              <a:t>, covering crops, locations, environmental conditions, soil characteristics, farming practices, yield, production, water usage and economic performance.</a:t>
            </a:r>
          </a:p>
          <a:p>
            <a:r>
              <a:rPr lang="en-US" sz="2300" dirty="0"/>
              <a:t>The analysis includes data cleaning, descriptive statistics, univariate analysis, outlier analysis, bivariate and multivariate analysis, correlation analysis and seasonal comparisons. Additional comparisons are performed across crops and irrigation methods to identify meaningful patterns.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1000"/>
                                        <p:tgtEl>
                                          <p:spTgt spid="8">
                                            <p:txEl>
                                              <p:pRg st="1" end="1"/>
                                            </p:txEl>
                                          </p:spTgt>
                                        </p:tgtEl>
                                      </p:cBhvr>
                                    </p:animEffect>
                                    <p:anim calcmode="lin" valueType="num">
                                      <p:cBhvr>
                                        <p:cTn id="22"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fade">
                                      <p:cBhvr>
                                        <p:cTn id="28" dur="1000"/>
                                        <p:tgtEl>
                                          <p:spTgt spid="8">
                                            <p:txEl>
                                              <p:pRg st="2" end="2"/>
                                            </p:txEl>
                                          </p:spTgt>
                                        </p:tgtEl>
                                      </p:cBhvr>
                                    </p:animEffect>
                                    <p:anim calcmode="lin" valueType="num">
                                      <p:cBhvr>
                                        <p:cTn id="29"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13098" y="513018"/>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pic>
        <p:nvPicPr>
          <p:cNvPr id="3" name="Picture 2">
            <a:extLst>
              <a:ext uri="{FF2B5EF4-FFF2-40B4-BE49-F238E27FC236}">
                <a16:creationId xmlns:a16="http://schemas.microsoft.com/office/drawing/2014/main" id="{5CC00541-534B-4454-71DD-95C11ADDC0E5}"/>
              </a:ext>
            </a:extLst>
          </p:cNvPr>
          <p:cNvPicPr>
            <a:picLocks noChangeAspect="1"/>
          </p:cNvPicPr>
          <p:nvPr/>
        </p:nvPicPr>
        <p:blipFill>
          <a:blip r:embed="rId2"/>
          <a:stretch>
            <a:fillRect/>
          </a:stretch>
        </p:blipFill>
        <p:spPr>
          <a:xfrm>
            <a:off x="5436133" y="1576286"/>
            <a:ext cx="2181225" cy="485775"/>
          </a:xfrm>
          <a:prstGeom prst="rect">
            <a:avLst/>
          </a:prstGeom>
        </p:spPr>
      </p:pic>
      <p:sp>
        <p:nvSpPr>
          <p:cNvPr id="8"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04505" y="1467853"/>
            <a:ext cx="9029033" cy="5548964"/>
          </a:xfrm>
        </p:spPr>
        <p:txBody>
          <a:bodyPr>
            <a:noAutofit/>
          </a:bodyPr>
          <a:lstStyle/>
          <a:p>
            <a:r>
              <a:rPr lang="en-US" sz="2200" b="1" dirty="0"/>
              <a:t>Farmers</a:t>
            </a:r>
            <a:br>
              <a:rPr lang="en-US" sz="2200" dirty="0"/>
            </a:br>
            <a:r>
              <a:rPr lang="en-US" sz="2200" dirty="0"/>
              <a:t>To understand crop and seasonal performance and support better resource planning.</a:t>
            </a:r>
          </a:p>
          <a:p>
            <a:r>
              <a:rPr lang="en-US" sz="2200" b="1" dirty="0"/>
              <a:t>Agricultural Departments</a:t>
            </a:r>
            <a:br>
              <a:rPr lang="en-US" sz="2200" dirty="0"/>
            </a:br>
            <a:r>
              <a:rPr lang="en-US" sz="2200" dirty="0"/>
              <a:t>To support evidence-based agricultural planning and resource management.</a:t>
            </a:r>
          </a:p>
          <a:p>
            <a:r>
              <a:rPr lang="en-US" sz="2200" b="1" dirty="0"/>
              <a:t>Agricultural Planners</a:t>
            </a:r>
            <a:br>
              <a:rPr lang="en-US" sz="2200" dirty="0"/>
            </a:br>
            <a:r>
              <a:rPr lang="en-US" sz="2200" dirty="0"/>
              <a:t>To compare seasonal performance and identify important patterns.</a:t>
            </a:r>
          </a:p>
          <a:p>
            <a:r>
              <a:rPr lang="en-US" sz="2200" b="1" dirty="0"/>
              <a:t>Researchers</a:t>
            </a:r>
            <a:br>
              <a:rPr lang="en-US" sz="2200" dirty="0"/>
            </a:br>
            <a:r>
              <a:rPr lang="en-US" sz="2200" dirty="0"/>
              <a:t>To study relationships between environmental conditions and agricultural outcomes.</a:t>
            </a:r>
          </a:p>
          <a:p>
            <a:r>
              <a:rPr lang="en-US" sz="2200" b="1" dirty="0"/>
              <a:t>Agri-businesses</a:t>
            </a:r>
            <a:br>
              <a:rPr lang="en-US" sz="2200" dirty="0"/>
            </a:br>
            <a:r>
              <a:rPr lang="en-US" sz="2200" dirty="0"/>
              <a:t>To understand production and profitability patterns across seasons.</a:t>
            </a:r>
          </a:p>
          <a:p>
            <a:pPr algn="just">
              <a:lnSpc>
                <a:spcPct val="150000"/>
              </a:lnSpc>
            </a:pPr>
            <a:endParaRPr lang="en-IN" sz="2200"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1000"/>
                                        <p:tgtEl>
                                          <p:spTgt spid="8">
                                            <p:txEl>
                                              <p:pRg st="1" end="1"/>
                                            </p:txEl>
                                          </p:spTgt>
                                        </p:tgtEl>
                                      </p:cBhvr>
                                    </p:animEffect>
                                    <p:anim calcmode="lin" valueType="num">
                                      <p:cBhvr>
                                        <p:cTn id="22"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fade">
                                      <p:cBhvr>
                                        <p:cTn id="28" dur="1000"/>
                                        <p:tgtEl>
                                          <p:spTgt spid="8">
                                            <p:txEl>
                                              <p:pRg st="2" end="2"/>
                                            </p:txEl>
                                          </p:spTgt>
                                        </p:tgtEl>
                                      </p:cBhvr>
                                    </p:animEffect>
                                    <p:anim calcmode="lin" valueType="num">
                                      <p:cBhvr>
                                        <p:cTn id="29"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animEffect transition="in" filter="fade">
                                      <p:cBhvr>
                                        <p:cTn id="35" dur="1000"/>
                                        <p:tgtEl>
                                          <p:spTgt spid="8">
                                            <p:txEl>
                                              <p:pRg st="3" end="3"/>
                                            </p:txEl>
                                          </p:spTgt>
                                        </p:tgtEl>
                                      </p:cBhvr>
                                    </p:animEffect>
                                    <p:anim calcmode="lin" valueType="num">
                                      <p:cBhvr>
                                        <p:cTn id="36"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xEl>
                                              <p:pRg st="4" end="4"/>
                                            </p:txEl>
                                          </p:spTgt>
                                        </p:tgtEl>
                                        <p:attrNameLst>
                                          <p:attrName>style.visibility</p:attrName>
                                        </p:attrNameLst>
                                      </p:cBhvr>
                                      <p:to>
                                        <p:strVal val="visible"/>
                                      </p:to>
                                    </p:set>
                                    <p:animEffect transition="in" filter="fade">
                                      <p:cBhvr>
                                        <p:cTn id="42" dur="1000"/>
                                        <p:tgtEl>
                                          <p:spTgt spid="8">
                                            <p:txEl>
                                              <p:pRg st="4" end="4"/>
                                            </p:txEl>
                                          </p:spTgt>
                                        </p:tgtEl>
                                      </p:cBhvr>
                                    </p:animEffect>
                                    <p:anim calcmode="lin" valueType="num">
                                      <p:cBhvr>
                                        <p:cTn id="4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229928"/>
            <a:ext cx="8193774" cy="5725384"/>
          </a:xfrm>
        </p:spPr>
        <p:txBody>
          <a:bodyPr>
            <a:normAutofit fontScale="77500" lnSpcReduction="20000"/>
          </a:bodyPr>
          <a:lstStyle/>
          <a:p>
            <a:pPr marL="0" indent="0">
              <a:buNone/>
            </a:pPr>
            <a:r>
              <a:rPr lang="en-IN" sz="2300" b="1" dirty="0"/>
              <a:t>Programming &amp; Environment</a:t>
            </a:r>
          </a:p>
          <a:p>
            <a:pPr>
              <a:lnSpc>
                <a:spcPct val="120000"/>
              </a:lnSpc>
            </a:pPr>
            <a:r>
              <a:rPr lang="en-IN" b="1" dirty="0"/>
              <a:t>Python</a:t>
            </a:r>
            <a:r>
              <a:rPr lang="en-IN" dirty="0"/>
              <a:t>: Programming language used for data analysis.</a:t>
            </a:r>
          </a:p>
          <a:p>
            <a:pPr>
              <a:lnSpc>
                <a:spcPct val="120000"/>
              </a:lnSpc>
            </a:pPr>
            <a:r>
              <a:rPr lang="en-IN" b="1" dirty="0" err="1"/>
              <a:t>Jupyter</a:t>
            </a:r>
            <a:r>
              <a:rPr lang="en-IN" b="1" dirty="0"/>
              <a:t> Notebook: </a:t>
            </a:r>
            <a:r>
              <a:rPr lang="en-IN" dirty="0"/>
              <a:t>Environment used to perform and document the analysis.</a:t>
            </a:r>
          </a:p>
          <a:p>
            <a:pPr marL="0" indent="0">
              <a:buNone/>
            </a:pPr>
            <a:r>
              <a:rPr lang="en-IN" sz="2300" b="1" dirty="0"/>
              <a:t>Libraries</a:t>
            </a:r>
          </a:p>
          <a:p>
            <a:pPr>
              <a:lnSpc>
                <a:spcPct val="120000"/>
              </a:lnSpc>
            </a:pPr>
            <a:r>
              <a:rPr lang="en-IN" b="1" dirty="0"/>
              <a:t>Pandas: </a:t>
            </a:r>
            <a:r>
              <a:rPr lang="en-IN" dirty="0"/>
              <a:t>Data loading, cleaning and manipulation.</a:t>
            </a:r>
          </a:p>
          <a:p>
            <a:pPr>
              <a:lnSpc>
                <a:spcPct val="120000"/>
              </a:lnSpc>
            </a:pPr>
            <a:r>
              <a:rPr lang="en-IN" b="1" dirty="0"/>
              <a:t>NumPy</a:t>
            </a:r>
            <a:r>
              <a:rPr lang="en-IN" dirty="0"/>
              <a:t>: Numerical operations and calculations.</a:t>
            </a:r>
          </a:p>
          <a:p>
            <a:pPr>
              <a:lnSpc>
                <a:spcPct val="120000"/>
              </a:lnSpc>
            </a:pPr>
            <a:r>
              <a:rPr lang="en-IN" b="1" dirty="0"/>
              <a:t>Matplotlib</a:t>
            </a:r>
            <a:r>
              <a:rPr lang="en-IN" dirty="0"/>
              <a:t>: Data visualization.</a:t>
            </a:r>
          </a:p>
          <a:p>
            <a:pPr>
              <a:lnSpc>
                <a:spcPct val="120000"/>
              </a:lnSpc>
            </a:pPr>
            <a:r>
              <a:rPr lang="en-IN" b="1" dirty="0"/>
              <a:t>Seaborn: </a:t>
            </a:r>
            <a:r>
              <a:rPr lang="en-IN" dirty="0"/>
              <a:t>Statistical and comparative visualizations.</a:t>
            </a:r>
          </a:p>
          <a:p>
            <a:pPr marL="0" indent="0">
              <a:buNone/>
            </a:pPr>
            <a:r>
              <a:rPr lang="en-IN" sz="2300" b="1" dirty="0"/>
              <a:t>Data Source / Format</a:t>
            </a:r>
          </a:p>
          <a:p>
            <a:r>
              <a:rPr lang="en-IN" b="1" dirty="0"/>
              <a:t>Excel Dataset (.xlsx): </a:t>
            </a:r>
            <a:r>
              <a:rPr lang="en-IN" dirty="0"/>
              <a:t>Source format of the provided agricultural dataset.</a:t>
            </a:r>
          </a:p>
          <a:p>
            <a:pPr marL="0" indent="0">
              <a:buNone/>
            </a:pPr>
            <a:r>
              <a:rPr lang="en-IN" sz="2300" b="1" dirty="0"/>
              <a:t>Analytical Techniques</a:t>
            </a:r>
          </a:p>
          <a:p>
            <a:r>
              <a:rPr lang="en-IN" b="1" dirty="0"/>
              <a:t>Descriptive Statistics | Univariate Analysis | Bivariate Analysis | Multivariate Analysis | Outlier Analysis | Correlation Analysis | Seasonal Comparison</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256983"/>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fade">
                                      <p:cBhvr>
                                        <p:cTn id="26" dur="1000"/>
                                        <p:tgtEl>
                                          <p:spTgt spid="7">
                                            <p:txEl>
                                              <p:pRg st="2" end="2"/>
                                            </p:txEl>
                                          </p:spTgt>
                                        </p:tgtEl>
                                      </p:cBhvr>
                                    </p:animEffect>
                                    <p:anim calcmode="lin" valueType="num">
                                      <p:cBhvr>
                                        <p:cTn id="27"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Effect transition="in" filter="fade">
                                      <p:cBhvr>
                                        <p:cTn id="33" dur="1000"/>
                                        <p:tgtEl>
                                          <p:spTgt spid="7">
                                            <p:txEl>
                                              <p:pRg st="3" end="3"/>
                                            </p:txEl>
                                          </p:spTgt>
                                        </p:tgtEl>
                                      </p:cBhvr>
                                    </p:animEffect>
                                    <p:anim calcmode="lin" valueType="num">
                                      <p:cBhvr>
                                        <p:cTn id="3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Effect transition="in" filter="fade">
                                      <p:cBhvr>
                                        <p:cTn id="40" dur="1000"/>
                                        <p:tgtEl>
                                          <p:spTgt spid="7">
                                            <p:txEl>
                                              <p:pRg st="4" end="4"/>
                                            </p:txEl>
                                          </p:spTgt>
                                        </p:tgtEl>
                                      </p:cBhvr>
                                    </p:animEffect>
                                    <p:anim calcmode="lin" valueType="num">
                                      <p:cBhvr>
                                        <p:cTn id="41"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xEl>
                                              <p:pRg st="5" end="5"/>
                                            </p:txEl>
                                          </p:spTgt>
                                        </p:tgtEl>
                                        <p:attrNameLst>
                                          <p:attrName>style.visibility</p:attrName>
                                        </p:attrNameLst>
                                      </p:cBhvr>
                                      <p:to>
                                        <p:strVal val="visible"/>
                                      </p:to>
                                    </p:set>
                                    <p:animEffect transition="in" filter="fade">
                                      <p:cBhvr>
                                        <p:cTn id="45" dur="1000"/>
                                        <p:tgtEl>
                                          <p:spTgt spid="7">
                                            <p:txEl>
                                              <p:pRg st="5" end="5"/>
                                            </p:txEl>
                                          </p:spTgt>
                                        </p:tgtEl>
                                      </p:cBhvr>
                                    </p:animEffect>
                                    <p:anim calcmode="lin" valueType="num">
                                      <p:cBhvr>
                                        <p:cTn id="4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7">
                                            <p:txEl>
                                              <p:pRg st="6" end="6"/>
                                            </p:txEl>
                                          </p:spTgt>
                                        </p:tgtEl>
                                        <p:attrNameLst>
                                          <p:attrName>style.visibility</p:attrName>
                                        </p:attrNameLst>
                                      </p:cBhvr>
                                      <p:to>
                                        <p:strVal val="visible"/>
                                      </p:to>
                                    </p:set>
                                    <p:animEffect transition="in" filter="fade">
                                      <p:cBhvr>
                                        <p:cTn id="50" dur="1000"/>
                                        <p:tgtEl>
                                          <p:spTgt spid="7">
                                            <p:txEl>
                                              <p:pRg st="6" end="6"/>
                                            </p:txEl>
                                          </p:spTgt>
                                        </p:tgtEl>
                                      </p:cBhvr>
                                    </p:animEffect>
                                    <p:anim calcmode="lin" valueType="num">
                                      <p:cBhvr>
                                        <p:cTn id="51"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6" end="6"/>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7">
                                            <p:txEl>
                                              <p:pRg st="7" end="7"/>
                                            </p:txEl>
                                          </p:spTgt>
                                        </p:tgtEl>
                                        <p:attrNameLst>
                                          <p:attrName>style.visibility</p:attrName>
                                        </p:attrNameLst>
                                      </p:cBhvr>
                                      <p:to>
                                        <p:strVal val="visible"/>
                                      </p:to>
                                    </p:set>
                                    <p:animEffect transition="in" filter="fade">
                                      <p:cBhvr>
                                        <p:cTn id="55" dur="1000"/>
                                        <p:tgtEl>
                                          <p:spTgt spid="7">
                                            <p:txEl>
                                              <p:pRg st="7" end="7"/>
                                            </p:txEl>
                                          </p:spTgt>
                                        </p:tgtEl>
                                      </p:cBhvr>
                                    </p:animEffect>
                                    <p:anim calcmode="lin" valueType="num">
                                      <p:cBhvr>
                                        <p:cTn id="56"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7">
                                            <p:txEl>
                                              <p:pRg st="8" end="8"/>
                                            </p:txEl>
                                          </p:spTgt>
                                        </p:tgtEl>
                                        <p:attrNameLst>
                                          <p:attrName>style.visibility</p:attrName>
                                        </p:attrNameLst>
                                      </p:cBhvr>
                                      <p:to>
                                        <p:strVal val="visible"/>
                                      </p:to>
                                    </p:set>
                                    <p:animEffect transition="in" filter="fade">
                                      <p:cBhvr>
                                        <p:cTn id="62" dur="1000"/>
                                        <p:tgtEl>
                                          <p:spTgt spid="7">
                                            <p:txEl>
                                              <p:pRg st="8" end="8"/>
                                            </p:txEl>
                                          </p:spTgt>
                                        </p:tgtEl>
                                      </p:cBhvr>
                                    </p:animEffect>
                                    <p:anim calcmode="lin" valueType="num">
                                      <p:cBhvr>
                                        <p:cTn id="63"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4"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7">
                                            <p:txEl>
                                              <p:pRg st="9" end="9"/>
                                            </p:txEl>
                                          </p:spTgt>
                                        </p:tgtEl>
                                        <p:attrNameLst>
                                          <p:attrName>style.visibility</p:attrName>
                                        </p:attrNameLst>
                                      </p:cBhvr>
                                      <p:to>
                                        <p:strVal val="visible"/>
                                      </p:to>
                                    </p:set>
                                    <p:animEffect transition="in" filter="fade">
                                      <p:cBhvr>
                                        <p:cTn id="69" dur="1000"/>
                                        <p:tgtEl>
                                          <p:spTgt spid="7">
                                            <p:txEl>
                                              <p:pRg st="9" end="9"/>
                                            </p:txEl>
                                          </p:spTgt>
                                        </p:tgtEl>
                                      </p:cBhvr>
                                    </p:animEffect>
                                    <p:anim calcmode="lin" valueType="num">
                                      <p:cBhvr>
                                        <p:cTn id="7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1"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7">
                                            <p:txEl>
                                              <p:pRg st="10" end="10"/>
                                            </p:txEl>
                                          </p:spTgt>
                                        </p:tgtEl>
                                        <p:attrNameLst>
                                          <p:attrName>style.visibility</p:attrName>
                                        </p:attrNameLst>
                                      </p:cBhvr>
                                      <p:to>
                                        <p:strVal val="visible"/>
                                      </p:to>
                                    </p:set>
                                    <p:animEffect transition="in" filter="fade">
                                      <p:cBhvr>
                                        <p:cTn id="76" dur="1000"/>
                                        <p:tgtEl>
                                          <p:spTgt spid="7">
                                            <p:txEl>
                                              <p:pRg st="10" end="10"/>
                                            </p:txEl>
                                          </p:spTgt>
                                        </p:tgtEl>
                                      </p:cBhvr>
                                    </p:animEffect>
                                    <p:anim calcmode="lin" valueType="num">
                                      <p:cBhvr>
                                        <p:cTn id="77"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78"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7">
                                            <p:txEl>
                                              <p:pRg st="11" end="11"/>
                                            </p:txEl>
                                          </p:spTgt>
                                        </p:tgtEl>
                                        <p:attrNameLst>
                                          <p:attrName>style.visibility</p:attrName>
                                        </p:attrNameLst>
                                      </p:cBhvr>
                                      <p:to>
                                        <p:strVal val="visible"/>
                                      </p:to>
                                    </p:set>
                                    <p:animEffect transition="in" filter="fade">
                                      <p:cBhvr>
                                        <p:cTn id="83" dur="1000"/>
                                        <p:tgtEl>
                                          <p:spTgt spid="7">
                                            <p:txEl>
                                              <p:pRg st="11" end="11"/>
                                            </p:txEl>
                                          </p:spTgt>
                                        </p:tgtEl>
                                      </p:cBhvr>
                                    </p:animEffect>
                                    <p:anim calcmode="lin" valueType="num">
                                      <p:cBhvr>
                                        <p:cTn id="84"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85"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20982" y="15603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9F72E51-2F64-037C-B69E-86EDB9DD4B18}"/>
              </a:ext>
            </a:extLst>
          </p:cNvPr>
          <p:cNvPicPr>
            <a:picLocks noChangeAspect="1"/>
          </p:cNvPicPr>
          <p:nvPr/>
        </p:nvPicPr>
        <p:blipFill>
          <a:blip r:embed="rId3"/>
          <a:stretch>
            <a:fillRect/>
          </a:stretch>
        </p:blipFill>
        <p:spPr>
          <a:xfrm>
            <a:off x="5861249" y="1698561"/>
            <a:ext cx="2181225" cy="485775"/>
          </a:xfrm>
          <a:prstGeom prst="rect">
            <a:avLst/>
          </a:prstGeom>
        </p:spPr>
      </p:pic>
      <p:graphicFrame>
        <p:nvGraphicFramePr>
          <p:cNvPr id="10" name="Table 9">
            <a:extLst>
              <a:ext uri="{FF2B5EF4-FFF2-40B4-BE49-F238E27FC236}">
                <a16:creationId xmlns:a16="http://schemas.microsoft.com/office/drawing/2014/main" id="{FC5FD637-EC24-7480-B915-EAA7C60DDEBE}"/>
              </a:ext>
            </a:extLst>
          </p:cNvPr>
          <p:cNvGraphicFramePr>
            <a:graphicFrameLocks noGrp="1"/>
          </p:cNvGraphicFramePr>
          <p:nvPr>
            <p:extLst>
              <p:ext uri="{D42A27DB-BD31-4B8C-83A1-F6EECF244321}">
                <p14:modId xmlns:p14="http://schemas.microsoft.com/office/powerpoint/2010/main" val="1090529492"/>
              </p:ext>
            </p:extLst>
          </p:nvPr>
        </p:nvGraphicFramePr>
        <p:xfrm>
          <a:off x="483512" y="4690612"/>
          <a:ext cx="6150715" cy="1877828"/>
        </p:xfrm>
        <a:graphic>
          <a:graphicData uri="http://schemas.openxmlformats.org/drawingml/2006/table">
            <a:tbl>
              <a:tblPr/>
              <a:tblGrid>
                <a:gridCol w="1407533">
                  <a:extLst>
                    <a:ext uri="{9D8B030D-6E8A-4147-A177-3AD203B41FA5}">
                      <a16:colId xmlns:a16="http://schemas.microsoft.com/office/drawing/2014/main" val="2613569587"/>
                    </a:ext>
                  </a:extLst>
                </a:gridCol>
                <a:gridCol w="1252374">
                  <a:extLst>
                    <a:ext uri="{9D8B030D-6E8A-4147-A177-3AD203B41FA5}">
                      <a16:colId xmlns:a16="http://schemas.microsoft.com/office/drawing/2014/main" val="627026154"/>
                    </a:ext>
                  </a:extLst>
                </a:gridCol>
                <a:gridCol w="1622152">
                  <a:extLst>
                    <a:ext uri="{9D8B030D-6E8A-4147-A177-3AD203B41FA5}">
                      <a16:colId xmlns:a16="http://schemas.microsoft.com/office/drawing/2014/main" val="3965454055"/>
                    </a:ext>
                  </a:extLst>
                </a:gridCol>
                <a:gridCol w="1868656">
                  <a:extLst>
                    <a:ext uri="{9D8B030D-6E8A-4147-A177-3AD203B41FA5}">
                      <a16:colId xmlns:a16="http://schemas.microsoft.com/office/drawing/2014/main" val="3581044854"/>
                    </a:ext>
                  </a:extLst>
                </a:gridCol>
              </a:tblGrid>
              <a:tr h="469457">
                <a:tc>
                  <a:txBody>
                    <a:bodyPr/>
                    <a:lstStyle/>
                    <a:p>
                      <a:pPr>
                        <a:buNone/>
                      </a:pPr>
                      <a:r>
                        <a:rPr lang="en-IN" dirty="0">
                          <a:ln>
                            <a:solidFill>
                              <a:schemeClr val="tx1"/>
                            </a:solidFill>
                          </a:ln>
                        </a:rPr>
                        <a:t>Season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r">
                        <a:buNone/>
                      </a:pPr>
                      <a:r>
                        <a:rPr lang="en-IN" dirty="0">
                          <a:ln>
                            <a:solidFill>
                              <a:schemeClr val="tx1"/>
                            </a:solidFill>
                          </a:ln>
                        </a:rPr>
                        <a:t>Avg. Yield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r">
                        <a:buNone/>
                      </a:pPr>
                      <a:r>
                        <a:rPr lang="en-IN" dirty="0">
                          <a:ln>
                            <a:solidFill>
                              <a:schemeClr val="tx1"/>
                            </a:solidFill>
                          </a:ln>
                        </a:rPr>
                        <a:t>Avg. Profit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r">
                        <a:buNone/>
                      </a:pPr>
                      <a:r>
                        <a:rPr lang="en-IN" dirty="0">
                          <a:ln>
                            <a:solidFill>
                              <a:schemeClr val="tx1"/>
                            </a:solidFill>
                          </a:ln>
                        </a:rPr>
                        <a:t>Avg. Water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510407286"/>
                  </a:ext>
                </a:extLst>
              </a:tr>
              <a:tr h="469457">
                <a:tc>
                  <a:txBody>
                    <a:bodyPr/>
                    <a:lstStyle/>
                    <a:p>
                      <a:pPr>
                        <a:buNone/>
                      </a:pPr>
                      <a:r>
                        <a:rPr lang="en-IN" b="1" dirty="0"/>
                        <a:t>Kharif</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b="1" dirty="0"/>
                        <a:t>5.64 t/ha</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b="1" dirty="0"/>
                        <a:t>₹178,914.65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a:t>6,102.20 m³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58892995"/>
                  </a:ext>
                </a:extLst>
              </a:tr>
              <a:tr h="469457">
                <a:tc>
                  <a:txBody>
                    <a:bodyPr/>
                    <a:lstStyle/>
                    <a:p>
                      <a:pPr>
                        <a:buNone/>
                      </a:pPr>
                      <a:r>
                        <a:rPr lang="en-IN" b="1" dirty="0"/>
                        <a:t>Rabi</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a:t>5.08 t/ha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a:t>₹87,689.47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b="1" dirty="0"/>
                        <a:t>5,846.99 m³</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02711447"/>
                  </a:ext>
                </a:extLst>
              </a:tr>
              <a:tr h="469457">
                <a:tc>
                  <a:txBody>
                    <a:bodyPr/>
                    <a:lstStyle/>
                    <a:p>
                      <a:pPr>
                        <a:buNone/>
                      </a:pPr>
                      <a:r>
                        <a:rPr lang="en-IN" b="1" dirty="0"/>
                        <a:t>Zaid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a:t>4.67 t/ha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b="1"/>
                        <a:t>−₹24,804.82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buNone/>
                      </a:pPr>
                      <a:r>
                        <a:rPr lang="en-IN" b="1" dirty="0"/>
                        <a:t>6,419.89 m³</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207181288"/>
                  </a:ext>
                </a:extLst>
              </a:tr>
            </a:tbl>
          </a:graphicData>
        </a:graphic>
      </p:graphicFrame>
      <p:sp>
        <p:nvSpPr>
          <p:cNvPr id="12" name="Title 3">
            <a:extLst>
              <a:ext uri="{FF2B5EF4-FFF2-40B4-BE49-F238E27FC236}">
                <a16:creationId xmlns:a16="http://schemas.microsoft.com/office/drawing/2014/main" id="{B2B19FA4-5FB9-DC9E-52AB-AE2BE6E345AE}"/>
              </a:ext>
            </a:extLst>
          </p:cNvPr>
          <p:cNvSpPr txBox="1">
            <a:spLocks/>
          </p:cNvSpPr>
          <p:nvPr/>
        </p:nvSpPr>
        <p:spPr>
          <a:xfrm>
            <a:off x="320982" y="1106050"/>
            <a:ext cx="8447633" cy="485775"/>
          </a:xfrm>
          <a:prstGeom prst="rect">
            <a:avLst/>
          </a:prstGeom>
        </p:spPr>
        <p:txBody>
          <a:bodyPr vert="horz" lIns="91440" tIns="45720" rIns="91440" bIns="45720" rtlCol="0" anchor="t">
            <a:normAutofit fontScale="9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u="sng" dirty="0"/>
              <a:t>Seasonal Agricultural Performance</a:t>
            </a:r>
          </a:p>
        </p:txBody>
      </p:sp>
      <p:pic>
        <p:nvPicPr>
          <p:cNvPr id="24" name="Picture 23">
            <a:extLst>
              <a:ext uri="{FF2B5EF4-FFF2-40B4-BE49-F238E27FC236}">
                <a16:creationId xmlns:a16="http://schemas.microsoft.com/office/drawing/2014/main" id="{611FD19F-AB40-0476-5EC4-4C100A5F6F7E}"/>
              </a:ext>
            </a:extLst>
          </p:cNvPr>
          <p:cNvPicPr>
            <a:picLocks noChangeAspect="1"/>
          </p:cNvPicPr>
          <p:nvPr/>
        </p:nvPicPr>
        <p:blipFill>
          <a:blip r:embed="rId4"/>
          <a:stretch>
            <a:fillRect/>
          </a:stretch>
        </p:blipFill>
        <p:spPr>
          <a:xfrm>
            <a:off x="173279" y="1852054"/>
            <a:ext cx="3636846" cy="2510389"/>
          </a:xfrm>
          <a:prstGeom prst="rect">
            <a:avLst/>
          </a:prstGeom>
        </p:spPr>
      </p:pic>
      <p:pic>
        <p:nvPicPr>
          <p:cNvPr id="26" name="Picture 25">
            <a:extLst>
              <a:ext uri="{FF2B5EF4-FFF2-40B4-BE49-F238E27FC236}">
                <a16:creationId xmlns:a16="http://schemas.microsoft.com/office/drawing/2014/main" id="{C0EFBE62-83BD-CEF1-7714-53D49255FEC6}"/>
              </a:ext>
            </a:extLst>
          </p:cNvPr>
          <p:cNvPicPr>
            <a:picLocks noChangeAspect="1"/>
          </p:cNvPicPr>
          <p:nvPr/>
        </p:nvPicPr>
        <p:blipFill>
          <a:blip r:embed="rId5"/>
          <a:stretch>
            <a:fillRect/>
          </a:stretch>
        </p:blipFill>
        <p:spPr>
          <a:xfrm>
            <a:off x="3969346" y="1865658"/>
            <a:ext cx="4028846" cy="2600689"/>
          </a:xfrm>
          <a:prstGeom prst="rect">
            <a:avLst/>
          </a:prstGeom>
        </p:spPr>
      </p:pic>
      <p:pic>
        <p:nvPicPr>
          <p:cNvPr id="28" name="Picture 27">
            <a:extLst>
              <a:ext uri="{FF2B5EF4-FFF2-40B4-BE49-F238E27FC236}">
                <a16:creationId xmlns:a16="http://schemas.microsoft.com/office/drawing/2014/main" id="{BFD0A09D-8BB8-8294-73D3-97DD0966EC7D}"/>
              </a:ext>
            </a:extLst>
          </p:cNvPr>
          <p:cNvPicPr>
            <a:picLocks noChangeAspect="1"/>
          </p:cNvPicPr>
          <p:nvPr/>
        </p:nvPicPr>
        <p:blipFill>
          <a:blip r:embed="rId6"/>
          <a:stretch>
            <a:fillRect/>
          </a:stretch>
        </p:blipFill>
        <p:spPr>
          <a:xfrm>
            <a:off x="8157413" y="1854277"/>
            <a:ext cx="3789172" cy="2518938"/>
          </a:xfrm>
          <a:prstGeom prst="rect">
            <a:avLst/>
          </a:prstGeom>
        </p:spPr>
      </p:pic>
      <p:pic>
        <p:nvPicPr>
          <p:cNvPr id="31" name="Picture 30">
            <a:extLst>
              <a:ext uri="{FF2B5EF4-FFF2-40B4-BE49-F238E27FC236}">
                <a16:creationId xmlns:a16="http://schemas.microsoft.com/office/drawing/2014/main" id="{B3605AD0-5F5A-DF69-279E-5DEAED5DA4A2}"/>
              </a:ext>
            </a:extLst>
          </p:cNvPr>
          <p:cNvPicPr>
            <a:picLocks noChangeAspect="1"/>
          </p:cNvPicPr>
          <p:nvPr/>
        </p:nvPicPr>
        <p:blipFill>
          <a:blip r:embed="rId7"/>
          <a:stretch>
            <a:fillRect/>
          </a:stretch>
        </p:blipFill>
        <p:spPr>
          <a:xfrm>
            <a:off x="7355567" y="4633444"/>
            <a:ext cx="4352921" cy="211549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p:tgtEl>
                                          <p:spTgt spid="12"/>
                                        </p:tgtEl>
                                        <p:attrNameLst>
                                          <p:attrName>ppt_y</p:attrName>
                                        </p:attrNameLst>
                                      </p:cBhvr>
                                      <p:tavLst>
                                        <p:tav tm="0">
                                          <p:val>
                                            <p:strVal val="#ppt_y+#ppt_h*1.125000"/>
                                          </p:val>
                                        </p:tav>
                                        <p:tav tm="100000">
                                          <p:val>
                                            <p:strVal val="#ppt_y"/>
                                          </p:val>
                                        </p:tav>
                                      </p:tavLst>
                                    </p:anim>
                                    <p:animEffect transition="in" filter="wipe(up)">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D78D6-025E-DF68-97E9-1E53730C51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2D192E2-5691-47F5-BE56-DFDA1B9355F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C8607EC-4915-D2C9-6F99-857A036A079B}"/>
              </a:ext>
            </a:extLst>
          </p:cNvPr>
          <p:cNvSpPr>
            <a:spLocks noGrp="1"/>
          </p:cNvSpPr>
          <p:nvPr>
            <p:ph type="title"/>
          </p:nvPr>
        </p:nvSpPr>
        <p:spPr>
          <a:xfrm>
            <a:off x="332269" y="18061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B5F1F70-314E-86CC-DF01-EFCAE559F0F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587120A-2535-1DB3-5E84-B8926ACF19D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798AC57-53A5-E454-315F-7B44361DEEFB}"/>
              </a:ext>
            </a:extLst>
          </p:cNvPr>
          <p:cNvPicPr>
            <a:picLocks noChangeAspect="1"/>
          </p:cNvPicPr>
          <p:nvPr/>
        </p:nvPicPr>
        <p:blipFill>
          <a:blip r:embed="rId3"/>
          <a:stretch>
            <a:fillRect/>
          </a:stretch>
        </p:blipFill>
        <p:spPr>
          <a:xfrm>
            <a:off x="5861249" y="1698561"/>
            <a:ext cx="2181225" cy="485775"/>
          </a:xfrm>
          <a:prstGeom prst="rect">
            <a:avLst/>
          </a:prstGeom>
        </p:spPr>
      </p:pic>
      <p:sp>
        <p:nvSpPr>
          <p:cNvPr id="12" name="Title 3">
            <a:extLst>
              <a:ext uri="{FF2B5EF4-FFF2-40B4-BE49-F238E27FC236}">
                <a16:creationId xmlns:a16="http://schemas.microsoft.com/office/drawing/2014/main" id="{9B980304-B46C-29CF-64C8-2171412D2499}"/>
              </a:ext>
            </a:extLst>
          </p:cNvPr>
          <p:cNvSpPr txBox="1">
            <a:spLocks/>
          </p:cNvSpPr>
          <p:nvPr/>
        </p:nvSpPr>
        <p:spPr>
          <a:xfrm>
            <a:off x="316703" y="1146900"/>
            <a:ext cx="8447633" cy="485775"/>
          </a:xfrm>
          <a:prstGeom prst="rect">
            <a:avLst/>
          </a:prstGeom>
        </p:spPr>
        <p:txBody>
          <a:bodyPr vert="horz" lIns="91440" tIns="45720" rIns="91440" bIns="45720" rtlCol="0" anchor="t">
            <a:normAutofit fontScale="9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u="sng" dirty="0"/>
              <a:t>Crop Performance Across Seasons</a:t>
            </a:r>
          </a:p>
        </p:txBody>
      </p:sp>
      <p:pic>
        <p:nvPicPr>
          <p:cNvPr id="6" name="Picture 5">
            <a:extLst>
              <a:ext uri="{FF2B5EF4-FFF2-40B4-BE49-F238E27FC236}">
                <a16:creationId xmlns:a16="http://schemas.microsoft.com/office/drawing/2014/main" id="{065985CB-A1AD-A87B-7014-191BA565D1B2}"/>
              </a:ext>
            </a:extLst>
          </p:cNvPr>
          <p:cNvPicPr>
            <a:picLocks noChangeAspect="1"/>
          </p:cNvPicPr>
          <p:nvPr/>
        </p:nvPicPr>
        <p:blipFill>
          <a:blip r:embed="rId4"/>
          <a:stretch>
            <a:fillRect/>
          </a:stretch>
        </p:blipFill>
        <p:spPr>
          <a:xfrm>
            <a:off x="6745312" y="1858665"/>
            <a:ext cx="5357921" cy="4311081"/>
          </a:xfrm>
          <a:prstGeom prst="rect">
            <a:avLst/>
          </a:prstGeom>
        </p:spPr>
      </p:pic>
      <p:sp>
        <p:nvSpPr>
          <p:cNvPr id="13" name="Text Placeholder 6">
            <a:extLst>
              <a:ext uri="{FF2B5EF4-FFF2-40B4-BE49-F238E27FC236}">
                <a16:creationId xmlns:a16="http://schemas.microsoft.com/office/drawing/2014/main" id="{8E04D371-A9FB-0079-4700-32E97DD8B191}"/>
              </a:ext>
            </a:extLst>
          </p:cNvPr>
          <p:cNvSpPr>
            <a:spLocks noGrp="1"/>
          </p:cNvSpPr>
          <p:nvPr>
            <p:ph type="body" sz="quarter" idx="12"/>
          </p:nvPr>
        </p:nvSpPr>
        <p:spPr>
          <a:xfrm>
            <a:off x="332269" y="1782021"/>
            <a:ext cx="6302888" cy="3314834"/>
          </a:xfrm>
        </p:spPr>
        <p:txBody>
          <a:bodyPr>
            <a:noAutofit/>
          </a:bodyPr>
          <a:lstStyle/>
          <a:p>
            <a:pPr>
              <a:buNone/>
            </a:pPr>
            <a:r>
              <a:rPr lang="en-US" sz="2200" b="1" dirty="0"/>
              <a:t>Key Findings :</a:t>
            </a:r>
            <a:endParaRPr lang="en-US" sz="2200" dirty="0"/>
          </a:p>
          <a:p>
            <a:pPr>
              <a:buFont typeface="Arial" panose="020B0604020202020204" pitchFamily="34" charset="0"/>
              <a:buChar char="•"/>
            </a:pPr>
            <a:r>
              <a:rPr lang="en-US" sz="1800" dirty="0"/>
              <a:t>Most crops recorded their </a:t>
            </a:r>
            <a:r>
              <a:rPr lang="en-US" sz="1800" b="1" dirty="0"/>
              <a:t>highest average yield in Kharif</a:t>
            </a:r>
            <a:r>
              <a:rPr lang="en-US" sz="1800" dirty="0"/>
              <a:t>. </a:t>
            </a:r>
          </a:p>
          <a:p>
            <a:pPr>
              <a:buFont typeface="Arial" panose="020B0604020202020204" pitchFamily="34" charset="0"/>
              <a:buChar char="•"/>
            </a:pPr>
            <a:r>
              <a:rPr lang="en-US" sz="1800" dirty="0"/>
              <a:t>Zaid generally showed the </a:t>
            </a:r>
            <a:r>
              <a:rPr lang="en-US" sz="1800" b="1" dirty="0"/>
              <a:t>lowest average yield</a:t>
            </a:r>
            <a:r>
              <a:rPr lang="en-US" sz="1800" dirty="0"/>
              <a:t>. </a:t>
            </a:r>
          </a:p>
          <a:p>
            <a:pPr>
              <a:buFont typeface="Arial" panose="020B0604020202020204" pitchFamily="34" charset="0"/>
              <a:buChar char="•"/>
            </a:pPr>
            <a:r>
              <a:rPr lang="en-US" sz="1800" b="1" dirty="0"/>
              <a:t>Sugarcane</a:t>
            </a:r>
            <a:r>
              <a:rPr lang="en-US" sz="1800" dirty="0"/>
              <a:t> had substantially higher yield than the other crops. </a:t>
            </a:r>
          </a:p>
          <a:p>
            <a:pPr>
              <a:buFont typeface="Arial" panose="020B0604020202020204" pitchFamily="34" charset="0"/>
              <a:buChar char="•"/>
            </a:pPr>
            <a:r>
              <a:rPr lang="en-US" sz="1800" dirty="0"/>
              <a:t>Seasonal performance varies depending on the crop.</a:t>
            </a:r>
          </a:p>
          <a:p>
            <a:pPr>
              <a:buFont typeface="Arial" panose="020B0604020202020204" pitchFamily="34" charset="0"/>
              <a:buChar char="•"/>
            </a:pPr>
            <a:r>
              <a:rPr lang="en-US" sz="1800" dirty="0"/>
              <a:t>Therefore, crop performance should be evaluated together with the season.</a:t>
            </a:r>
          </a:p>
        </p:txBody>
      </p:sp>
      <p:sp>
        <p:nvSpPr>
          <p:cNvPr id="14" name="Text Placeholder 6">
            <a:extLst>
              <a:ext uri="{FF2B5EF4-FFF2-40B4-BE49-F238E27FC236}">
                <a16:creationId xmlns:a16="http://schemas.microsoft.com/office/drawing/2014/main" id="{B17ACCE3-B698-2C2F-1881-2184A47AD6E3}"/>
              </a:ext>
            </a:extLst>
          </p:cNvPr>
          <p:cNvSpPr txBox="1">
            <a:spLocks/>
          </p:cNvSpPr>
          <p:nvPr/>
        </p:nvSpPr>
        <p:spPr>
          <a:xfrm>
            <a:off x="518070" y="5118355"/>
            <a:ext cx="1969753" cy="40948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None/>
            </a:pPr>
            <a:r>
              <a:rPr lang="en-US" sz="2200" b="1" dirty="0"/>
              <a:t>Conclusion :  </a:t>
            </a:r>
          </a:p>
          <a:p>
            <a:pPr algn="just">
              <a:buFont typeface="Wingdings" panose="05000000000000000000" pitchFamily="2" charset="2"/>
              <a:buNone/>
            </a:pPr>
            <a:endParaRPr lang="en-US" sz="1800" dirty="0"/>
          </a:p>
        </p:txBody>
      </p:sp>
      <p:sp>
        <p:nvSpPr>
          <p:cNvPr id="19" name="TextBox 18">
            <a:extLst>
              <a:ext uri="{FF2B5EF4-FFF2-40B4-BE49-F238E27FC236}">
                <a16:creationId xmlns:a16="http://schemas.microsoft.com/office/drawing/2014/main" id="{BBE99147-6027-77D4-2C70-FD764ED08D89}"/>
              </a:ext>
            </a:extLst>
          </p:cNvPr>
          <p:cNvSpPr txBox="1"/>
          <p:nvPr/>
        </p:nvSpPr>
        <p:spPr>
          <a:xfrm>
            <a:off x="541600" y="5532546"/>
            <a:ext cx="6446342" cy="1200329"/>
          </a:xfrm>
          <a:prstGeom prst="rect">
            <a:avLst/>
          </a:prstGeom>
          <a:noFill/>
        </p:spPr>
        <p:txBody>
          <a:bodyPr wrap="square">
            <a:spAutoFit/>
          </a:bodyPr>
          <a:lstStyle/>
          <a:p>
            <a:pPr algn="just">
              <a:buNone/>
            </a:pPr>
            <a:r>
              <a:rPr lang="en-US" sz="1800" dirty="0"/>
              <a:t>Crop performance is strongly influenced by seasonal differences, and the pattern is not identical for every crop. So, crop and season should be considered together when evaluating agricultural performance. </a:t>
            </a:r>
            <a:r>
              <a:rPr lang="en-US" sz="1800" b="1" dirty="0"/>
              <a:t> </a:t>
            </a:r>
          </a:p>
        </p:txBody>
      </p:sp>
    </p:spTree>
    <p:extLst>
      <p:ext uri="{BB962C8B-B14F-4D97-AF65-F5344CB8AC3E}">
        <p14:creationId xmlns:p14="http://schemas.microsoft.com/office/powerpoint/2010/main" val="27369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p:tgtEl>
                                          <p:spTgt spid="12"/>
                                        </p:tgtEl>
                                        <p:attrNameLst>
                                          <p:attrName>ppt_y</p:attrName>
                                        </p:attrNameLst>
                                      </p:cBhvr>
                                      <p:tavLst>
                                        <p:tav tm="0">
                                          <p:val>
                                            <p:strVal val="#ppt_y+#ppt_h*1.125000"/>
                                          </p:val>
                                        </p:tav>
                                        <p:tav tm="100000">
                                          <p:val>
                                            <p:strVal val="#ppt_y"/>
                                          </p:val>
                                        </p:tav>
                                      </p:tavLst>
                                    </p:anim>
                                    <p:animEffect transition="in" filter="wipe(up)">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xEl>
                                              <p:pRg st="0" end="0"/>
                                            </p:txEl>
                                          </p:spTgt>
                                        </p:tgtEl>
                                        <p:attrNameLst>
                                          <p:attrName>style.visibility</p:attrName>
                                        </p:attrNameLst>
                                      </p:cBhvr>
                                      <p:to>
                                        <p:strVal val="visible"/>
                                      </p:to>
                                    </p:set>
                                    <p:animEffect transition="in" filter="fade">
                                      <p:cBhvr>
                                        <p:cTn id="25" dur="500"/>
                                        <p:tgtEl>
                                          <p:spTgt spid="1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xEl>
                                              <p:pRg st="1" end="1"/>
                                            </p:txEl>
                                          </p:spTgt>
                                        </p:tgtEl>
                                        <p:attrNameLst>
                                          <p:attrName>style.visibility</p:attrName>
                                        </p:attrNameLst>
                                      </p:cBhvr>
                                      <p:to>
                                        <p:strVal val="visible"/>
                                      </p:to>
                                    </p:set>
                                    <p:animEffect transition="in" filter="fade">
                                      <p:cBhvr>
                                        <p:cTn id="30" dur="500"/>
                                        <p:tgtEl>
                                          <p:spTgt spid="13">
                                            <p:txEl>
                                              <p:pRg st="1" end="1"/>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xEl>
                                              <p:pRg st="2" end="2"/>
                                            </p:txEl>
                                          </p:spTgt>
                                        </p:tgtEl>
                                        <p:attrNameLst>
                                          <p:attrName>style.visibility</p:attrName>
                                        </p:attrNameLst>
                                      </p:cBhvr>
                                      <p:to>
                                        <p:strVal val="visible"/>
                                      </p:to>
                                    </p:set>
                                    <p:animEffect transition="in" filter="fade">
                                      <p:cBhvr>
                                        <p:cTn id="33" dur="500"/>
                                        <p:tgtEl>
                                          <p:spTgt spid="13">
                                            <p:txEl>
                                              <p:pRg st="2" end="2"/>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xEl>
                                              <p:pRg st="3" end="3"/>
                                            </p:txEl>
                                          </p:spTgt>
                                        </p:tgtEl>
                                        <p:attrNameLst>
                                          <p:attrName>style.visibility</p:attrName>
                                        </p:attrNameLst>
                                      </p:cBhvr>
                                      <p:to>
                                        <p:strVal val="visible"/>
                                      </p:to>
                                    </p:set>
                                    <p:animEffect transition="in" filter="fade">
                                      <p:cBhvr>
                                        <p:cTn id="36" dur="500"/>
                                        <p:tgtEl>
                                          <p:spTgt spid="13">
                                            <p:txEl>
                                              <p:pRg st="3" end="3"/>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xEl>
                                              <p:pRg st="4" end="4"/>
                                            </p:txEl>
                                          </p:spTgt>
                                        </p:tgtEl>
                                        <p:attrNameLst>
                                          <p:attrName>style.visibility</p:attrName>
                                        </p:attrNameLst>
                                      </p:cBhvr>
                                      <p:to>
                                        <p:strVal val="visible"/>
                                      </p:to>
                                    </p:set>
                                    <p:animEffect transition="in" filter="fade">
                                      <p:cBhvr>
                                        <p:cTn id="39" dur="500"/>
                                        <p:tgtEl>
                                          <p:spTgt spid="13">
                                            <p:txEl>
                                              <p:pRg st="4" end="4"/>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xEl>
                                              <p:pRg st="5" end="5"/>
                                            </p:txEl>
                                          </p:spTgt>
                                        </p:tgtEl>
                                        <p:attrNameLst>
                                          <p:attrName>style.visibility</p:attrName>
                                        </p:attrNameLst>
                                      </p:cBhvr>
                                      <p:to>
                                        <p:strVal val="visible"/>
                                      </p:to>
                                    </p:set>
                                    <p:animEffect transition="in" filter="fade">
                                      <p:cBhvr>
                                        <p:cTn id="42" dur="500"/>
                                        <p:tgtEl>
                                          <p:spTgt spid="1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xEl>
                                              <p:pRg st="0" end="0"/>
                                            </p:txEl>
                                          </p:spTgt>
                                        </p:tgtEl>
                                        <p:attrNameLst>
                                          <p:attrName>style.visibility</p:attrName>
                                        </p:attrNameLst>
                                      </p:cBhvr>
                                      <p:to>
                                        <p:strVal val="visible"/>
                                      </p:to>
                                    </p:set>
                                    <p:animEffect transition="in" filter="fade">
                                      <p:cBhvr>
                                        <p:cTn id="50"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uiExpand="1" build="p"/>
      <p:bldP spid="14" grpId="0" build="allAtOnce"/>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72EAA-E675-D7E3-4518-7E9D697945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D9F0BF4-837D-7A8C-1229-68744A24788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FF1E992-21D7-185A-6F75-9E0B6784A28E}"/>
              </a:ext>
            </a:extLst>
          </p:cNvPr>
          <p:cNvSpPr>
            <a:spLocks noGrp="1"/>
          </p:cNvSpPr>
          <p:nvPr>
            <p:ph type="title"/>
          </p:nvPr>
        </p:nvSpPr>
        <p:spPr>
          <a:xfrm>
            <a:off x="332269" y="18061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D7D50D7-BB5C-90BA-A701-0B9061377D5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271C27A-1FBB-D49C-1877-D2EAA69B1EB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8851D57-1786-C392-7333-C5EA186AF71F}"/>
              </a:ext>
            </a:extLst>
          </p:cNvPr>
          <p:cNvPicPr>
            <a:picLocks noChangeAspect="1"/>
          </p:cNvPicPr>
          <p:nvPr/>
        </p:nvPicPr>
        <p:blipFill>
          <a:blip r:embed="rId3"/>
          <a:stretch>
            <a:fillRect/>
          </a:stretch>
        </p:blipFill>
        <p:spPr>
          <a:xfrm>
            <a:off x="5861249" y="1698561"/>
            <a:ext cx="2181225" cy="485775"/>
          </a:xfrm>
          <a:prstGeom prst="rect">
            <a:avLst/>
          </a:prstGeom>
        </p:spPr>
      </p:pic>
      <p:sp>
        <p:nvSpPr>
          <p:cNvPr id="12" name="Title 3">
            <a:extLst>
              <a:ext uri="{FF2B5EF4-FFF2-40B4-BE49-F238E27FC236}">
                <a16:creationId xmlns:a16="http://schemas.microsoft.com/office/drawing/2014/main" id="{3E247E46-D594-612D-0332-0EA7BFAA75AB}"/>
              </a:ext>
            </a:extLst>
          </p:cNvPr>
          <p:cNvSpPr txBox="1">
            <a:spLocks/>
          </p:cNvSpPr>
          <p:nvPr/>
        </p:nvSpPr>
        <p:spPr>
          <a:xfrm>
            <a:off x="316703" y="1146900"/>
            <a:ext cx="8447633" cy="485775"/>
          </a:xfrm>
          <a:prstGeom prst="rect">
            <a:avLst/>
          </a:prstGeom>
        </p:spPr>
        <p:txBody>
          <a:bodyPr vert="horz" lIns="91440" tIns="45720" rIns="91440" bIns="45720" rtlCol="0" anchor="t">
            <a:normAutofit fontScale="9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u="sng" dirty="0"/>
              <a:t>CORRELATION ANALYSIS</a:t>
            </a:r>
          </a:p>
        </p:txBody>
      </p:sp>
      <p:sp>
        <p:nvSpPr>
          <p:cNvPr id="13" name="Text Placeholder 6">
            <a:extLst>
              <a:ext uri="{FF2B5EF4-FFF2-40B4-BE49-F238E27FC236}">
                <a16:creationId xmlns:a16="http://schemas.microsoft.com/office/drawing/2014/main" id="{F4613233-FF4B-C63A-D645-76D012A12EB7}"/>
              </a:ext>
            </a:extLst>
          </p:cNvPr>
          <p:cNvSpPr>
            <a:spLocks noGrp="1"/>
          </p:cNvSpPr>
          <p:nvPr>
            <p:ph type="body" sz="quarter" idx="12"/>
          </p:nvPr>
        </p:nvSpPr>
        <p:spPr>
          <a:xfrm>
            <a:off x="272210" y="1793042"/>
            <a:ext cx="5528981" cy="627472"/>
          </a:xfrm>
        </p:spPr>
        <p:txBody>
          <a:bodyPr>
            <a:noAutofit/>
          </a:bodyPr>
          <a:lstStyle/>
          <a:p>
            <a:pPr>
              <a:buNone/>
            </a:pPr>
            <a:r>
              <a:rPr lang="en-IN" sz="2150" b="1" dirty="0"/>
              <a:t>Relationships Between Key Variables</a:t>
            </a:r>
            <a:endParaRPr lang="en-US" sz="2150" b="1" dirty="0"/>
          </a:p>
        </p:txBody>
      </p:sp>
      <p:sp>
        <p:nvSpPr>
          <p:cNvPr id="14" name="Text Placeholder 6">
            <a:extLst>
              <a:ext uri="{FF2B5EF4-FFF2-40B4-BE49-F238E27FC236}">
                <a16:creationId xmlns:a16="http://schemas.microsoft.com/office/drawing/2014/main" id="{0B5ADE9A-546D-3BFF-DCBD-3781F9318416}"/>
              </a:ext>
            </a:extLst>
          </p:cNvPr>
          <p:cNvSpPr txBox="1">
            <a:spLocks/>
          </p:cNvSpPr>
          <p:nvPr/>
        </p:nvSpPr>
        <p:spPr>
          <a:xfrm>
            <a:off x="435835" y="5173144"/>
            <a:ext cx="1969753" cy="40948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None/>
            </a:pPr>
            <a:r>
              <a:rPr lang="en-US" sz="2200" b="1" dirty="0"/>
              <a:t>Conclusion :  </a:t>
            </a:r>
          </a:p>
          <a:p>
            <a:pPr algn="just">
              <a:buFont typeface="Wingdings" panose="05000000000000000000" pitchFamily="2" charset="2"/>
              <a:buNone/>
            </a:pPr>
            <a:endParaRPr lang="en-US" sz="1800" dirty="0"/>
          </a:p>
        </p:txBody>
      </p:sp>
      <p:sp>
        <p:nvSpPr>
          <p:cNvPr id="19" name="TextBox 18">
            <a:extLst>
              <a:ext uri="{FF2B5EF4-FFF2-40B4-BE49-F238E27FC236}">
                <a16:creationId xmlns:a16="http://schemas.microsoft.com/office/drawing/2014/main" id="{91596334-CEFB-3C33-64AB-B3F82B07D548}"/>
              </a:ext>
            </a:extLst>
          </p:cNvPr>
          <p:cNvSpPr txBox="1"/>
          <p:nvPr/>
        </p:nvSpPr>
        <p:spPr>
          <a:xfrm>
            <a:off x="455085" y="5571046"/>
            <a:ext cx="4669975" cy="1169551"/>
          </a:xfrm>
          <a:prstGeom prst="rect">
            <a:avLst/>
          </a:prstGeom>
          <a:noFill/>
        </p:spPr>
        <p:txBody>
          <a:bodyPr wrap="square">
            <a:spAutoFit/>
          </a:bodyPr>
          <a:lstStyle/>
          <a:p>
            <a:pPr algn="just">
              <a:buNone/>
            </a:pPr>
            <a:r>
              <a:rPr lang="en-US" sz="1750" dirty="0"/>
              <a:t>Water efficiency, production and revenue show strong relationships with agricultural performance, while profit is influenced by multiple factors.</a:t>
            </a:r>
            <a:endParaRPr lang="en-US" sz="1750" b="1" dirty="0"/>
          </a:p>
        </p:txBody>
      </p:sp>
      <p:pic>
        <p:nvPicPr>
          <p:cNvPr id="9" name="Picture 8">
            <a:extLst>
              <a:ext uri="{FF2B5EF4-FFF2-40B4-BE49-F238E27FC236}">
                <a16:creationId xmlns:a16="http://schemas.microsoft.com/office/drawing/2014/main" id="{D85B3071-CEA7-0BC0-227B-BEB6FD1E4431}"/>
              </a:ext>
            </a:extLst>
          </p:cNvPr>
          <p:cNvPicPr>
            <a:picLocks noChangeAspect="1"/>
          </p:cNvPicPr>
          <p:nvPr/>
        </p:nvPicPr>
        <p:blipFill>
          <a:blip r:embed="rId4"/>
          <a:stretch>
            <a:fillRect/>
          </a:stretch>
        </p:blipFill>
        <p:spPr>
          <a:xfrm>
            <a:off x="5408197" y="1091827"/>
            <a:ext cx="6654527" cy="5705923"/>
          </a:xfrm>
          <a:prstGeom prst="rect">
            <a:avLst/>
          </a:prstGeom>
        </p:spPr>
      </p:pic>
      <p:graphicFrame>
        <p:nvGraphicFramePr>
          <p:cNvPr id="11" name="Table 10">
            <a:extLst>
              <a:ext uri="{FF2B5EF4-FFF2-40B4-BE49-F238E27FC236}">
                <a16:creationId xmlns:a16="http://schemas.microsoft.com/office/drawing/2014/main" id="{6A486AD8-04C2-F367-BA75-B7D8D8E12BD6}"/>
              </a:ext>
            </a:extLst>
          </p:cNvPr>
          <p:cNvGraphicFramePr>
            <a:graphicFrameLocks noGrp="1"/>
          </p:cNvGraphicFramePr>
          <p:nvPr>
            <p:extLst>
              <p:ext uri="{D42A27DB-BD31-4B8C-83A1-F6EECF244321}">
                <p14:modId xmlns:p14="http://schemas.microsoft.com/office/powerpoint/2010/main" val="701588314"/>
              </p:ext>
            </p:extLst>
          </p:nvPr>
        </p:nvGraphicFramePr>
        <p:xfrm>
          <a:off x="332269" y="2331720"/>
          <a:ext cx="4773541" cy="2194560"/>
        </p:xfrm>
        <a:graphic>
          <a:graphicData uri="http://schemas.openxmlformats.org/drawingml/2006/table">
            <a:tbl>
              <a:tblPr/>
              <a:tblGrid>
                <a:gridCol w="3237397">
                  <a:extLst>
                    <a:ext uri="{9D8B030D-6E8A-4147-A177-3AD203B41FA5}">
                      <a16:colId xmlns:a16="http://schemas.microsoft.com/office/drawing/2014/main" val="302249420"/>
                    </a:ext>
                  </a:extLst>
                </a:gridCol>
                <a:gridCol w="1536144">
                  <a:extLst>
                    <a:ext uri="{9D8B030D-6E8A-4147-A177-3AD203B41FA5}">
                      <a16:colId xmlns:a16="http://schemas.microsoft.com/office/drawing/2014/main" val="2968345786"/>
                    </a:ext>
                  </a:extLst>
                </a:gridCol>
              </a:tblGrid>
              <a:tr h="330890">
                <a:tc>
                  <a:txBody>
                    <a:bodyPr/>
                    <a:lstStyle/>
                    <a:p>
                      <a:pPr>
                        <a:buNone/>
                      </a:pPr>
                      <a:r>
                        <a:rPr lang="en-IN" dirty="0"/>
                        <a:t>Relationship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r">
                        <a:buNone/>
                      </a:pPr>
                      <a:r>
                        <a:rPr lang="en-IN" dirty="0"/>
                        <a:t>Correlation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328820146"/>
                  </a:ext>
                </a:extLst>
              </a:tr>
              <a:tr h="330890">
                <a:tc>
                  <a:txBody>
                    <a:bodyPr/>
                    <a:lstStyle/>
                    <a:p>
                      <a:pPr>
                        <a:buNone/>
                      </a:pPr>
                      <a:r>
                        <a:rPr lang="en-IN" dirty="0"/>
                        <a:t>Yield ↔ Water Efficiency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b="1" dirty="0"/>
                        <a:t>0.913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895191"/>
                  </a:ext>
                </a:extLst>
              </a:tr>
              <a:tr h="330890">
                <a:tc>
                  <a:txBody>
                    <a:bodyPr/>
                    <a:lstStyle/>
                    <a:p>
                      <a:pPr>
                        <a:buNone/>
                      </a:pPr>
                      <a:r>
                        <a:rPr lang="en-IN"/>
                        <a:t>Yield ↔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b="1"/>
                        <a:t>0.883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1733238"/>
                  </a:ext>
                </a:extLst>
              </a:tr>
              <a:tr h="330890">
                <a:tc>
                  <a:txBody>
                    <a:bodyPr/>
                    <a:lstStyle/>
                    <a:p>
                      <a:pPr>
                        <a:buNone/>
                      </a:pPr>
                      <a:r>
                        <a:rPr lang="en-IN" dirty="0"/>
                        <a:t>Profit ↔ Revenue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b="1"/>
                        <a:t>0.887</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0018558"/>
                  </a:ext>
                </a:extLst>
              </a:tr>
              <a:tr h="330890">
                <a:tc>
                  <a:txBody>
                    <a:bodyPr/>
                    <a:lstStyle/>
                    <a:p>
                      <a:pPr>
                        <a:buNone/>
                      </a:pPr>
                      <a:r>
                        <a:rPr lang="en-IN" dirty="0"/>
                        <a:t>Profit ↔ Production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b="1" dirty="0"/>
                        <a:t>0.554</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8953805"/>
                  </a:ext>
                </a:extLst>
              </a:tr>
              <a:tr h="330890">
                <a:tc>
                  <a:txBody>
                    <a:bodyPr/>
                    <a:lstStyle/>
                    <a:p>
                      <a:pPr>
                        <a:buNone/>
                      </a:pPr>
                      <a:r>
                        <a:rPr lang="en-IN" dirty="0"/>
                        <a:t>Yield ↔ Profit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b="1" dirty="0"/>
                        <a:t>0.488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5445764"/>
                  </a:ext>
                </a:extLst>
              </a:tr>
            </a:tbl>
          </a:graphicData>
        </a:graphic>
      </p:graphicFrame>
      <p:sp>
        <p:nvSpPr>
          <p:cNvPr id="15" name="TextBox 14">
            <a:extLst>
              <a:ext uri="{FF2B5EF4-FFF2-40B4-BE49-F238E27FC236}">
                <a16:creationId xmlns:a16="http://schemas.microsoft.com/office/drawing/2014/main" id="{103C043A-CC8A-617F-BA44-112B329309DC}"/>
              </a:ext>
            </a:extLst>
          </p:cNvPr>
          <p:cNvSpPr txBox="1"/>
          <p:nvPr/>
        </p:nvSpPr>
        <p:spPr>
          <a:xfrm>
            <a:off x="310336" y="4549676"/>
            <a:ext cx="4773541" cy="523220"/>
          </a:xfrm>
          <a:prstGeom prst="rect">
            <a:avLst/>
          </a:prstGeom>
          <a:noFill/>
        </p:spPr>
        <p:txBody>
          <a:bodyPr wrap="square">
            <a:spAutoFit/>
          </a:bodyPr>
          <a:lstStyle/>
          <a:p>
            <a:pPr algn="just">
              <a:buNone/>
            </a:pPr>
            <a:r>
              <a:rPr lang="en-US" sz="1350" b="1" dirty="0"/>
              <a:t>Note:</a:t>
            </a:r>
            <a:r>
              <a:rPr lang="en-US" sz="1350" dirty="0"/>
              <a:t> Correlation indicates association between variables and does not establish causation.</a:t>
            </a:r>
            <a:endParaRPr lang="en-US" sz="1350" b="1" dirty="0"/>
          </a:p>
        </p:txBody>
      </p:sp>
    </p:spTree>
    <p:extLst>
      <p:ext uri="{BB962C8B-B14F-4D97-AF65-F5344CB8AC3E}">
        <p14:creationId xmlns:p14="http://schemas.microsoft.com/office/powerpoint/2010/main" val="311869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p:tgtEl>
                                          <p:spTgt spid="12"/>
                                        </p:tgtEl>
                                        <p:attrNameLst>
                                          <p:attrName>ppt_y</p:attrName>
                                        </p:attrNameLst>
                                      </p:cBhvr>
                                      <p:tavLst>
                                        <p:tav tm="0">
                                          <p:val>
                                            <p:strVal val="#ppt_y+#ppt_h*1.125000"/>
                                          </p:val>
                                        </p:tav>
                                        <p:tav tm="100000">
                                          <p:val>
                                            <p:strVal val="#ppt_y"/>
                                          </p:val>
                                        </p:tav>
                                      </p:tavLst>
                                    </p:anim>
                                    <p:animEffect transition="in" filter="wipe(up)">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xEl>
                                              <p:pRg st="0" end="0"/>
                                            </p:txEl>
                                          </p:spTgt>
                                        </p:tgtEl>
                                        <p:attrNameLst>
                                          <p:attrName>style.visibility</p:attrName>
                                        </p:attrNameLst>
                                      </p:cBhvr>
                                      <p:to>
                                        <p:strVal val="visible"/>
                                      </p:to>
                                    </p:set>
                                    <p:animEffect transition="in" filter="fade">
                                      <p:cBhvr>
                                        <p:cTn id="30" dur="500"/>
                                        <p:tgtEl>
                                          <p:spTgt spid="13">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xEl>
                                              <p:pRg st="0" end="0"/>
                                            </p:txEl>
                                          </p:spTgt>
                                        </p:tgtEl>
                                        <p:attrNameLst>
                                          <p:attrName>style.visibility</p:attrName>
                                        </p:attrNameLst>
                                      </p:cBhvr>
                                      <p:to>
                                        <p:strVal val="visible"/>
                                      </p:to>
                                    </p:set>
                                    <p:animEffect transition="in" filter="fade">
                                      <p:cBhvr>
                                        <p:cTn id="41" dur="500"/>
                                        <p:tgtEl>
                                          <p:spTgt spid="14">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build="p"/>
      <p:bldP spid="14" grpId="0" build="allAtOnce"/>
      <p:bldP spid="19"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8B9A8-227C-768D-E0ED-1FB16A7878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5F2B3C-D3E1-A3DB-8213-E20B4348B12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3326438-851D-E454-2CEC-7781E6636BAE}"/>
              </a:ext>
            </a:extLst>
          </p:cNvPr>
          <p:cNvSpPr>
            <a:spLocks noGrp="1"/>
          </p:cNvSpPr>
          <p:nvPr>
            <p:ph type="title"/>
          </p:nvPr>
        </p:nvSpPr>
        <p:spPr>
          <a:xfrm>
            <a:off x="320982" y="259228"/>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ADDE470-52E5-1C36-9EB5-53E86F8CF81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B66BCA8-15F2-2FC8-29AF-D3CD0C046AC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557888A-08BC-9A3F-6CDA-939540B8A287}"/>
              </a:ext>
            </a:extLst>
          </p:cNvPr>
          <p:cNvPicPr>
            <a:picLocks noChangeAspect="1"/>
          </p:cNvPicPr>
          <p:nvPr/>
        </p:nvPicPr>
        <p:blipFill>
          <a:blip r:embed="rId3"/>
          <a:stretch>
            <a:fillRect/>
          </a:stretch>
        </p:blipFill>
        <p:spPr>
          <a:xfrm>
            <a:off x="5861249" y="1698561"/>
            <a:ext cx="2181225" cy="485775"/>
          </a:xfrm>
          <a:prstGeom prst="rect">
            <a:avLst/>
          </a:prstGeom>
        </p:spPr>
      </p:pic>
      <p:sp>
        <p:nvSpPr>
          <p:cNvPr id="12" name="Title 3">
            <a:extLst>
              <a:ext uri="{FF2B5EF4-FFF2-40B4-BE49-F238E27FC236}">
                <a16:creationId xmlns:a16="http://schemas.microsoft.com/office/drawing/2014/main" id="{459672AF-C0DB-A8FC-4C15-BE61A0A7E686}"/>
              </a:ext>
            </a:extLst>
          </p:cNvPr>
          <p:cNvSpPr txBox="1">
            <a:spLocks/>
          </p:cNvSpPr>
          <p:nvPr/>
        </p:nvSpPr>
        <p:spPr>
          <a:xfrm>
            <a:off x="-755559" y="1172647"/>
            <a:ext cx="6486763" cy="548144"/>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2900" u="sng" dirty="0"/>
              <a:t>Water</a:t>
            </a:r>
            <a:r>
              <a:rPr lang="en-IN" sz="2800" u="sng" dirty="0"/>
              <a:t> Usage &amp; Efficiency</a:t>
            </a:r>
          </a:p>
        </p:txBody>
      </p:sp>
      <p:sp>
        <p:nvSpPr>
          <p:cNvPr id="22" name="Text Placeholder 6">
            <a:extLst>
              <a:ext uri="{FF2B5EF4-FFF2-40B4-BE49-F238E27FC236}">
                <a16:creationId xmlns:a16="http://schemas.microsoft.com/office/drawing/2014/main" id="{3EBCD10C-BC2D-C77F-360C-FE783737CC33}"/>
              </a:ext>
            </a:extLst>
          </p:cNvPr>
          <p:cNvSpPr txBox="1">
            <a:spLocks/>
          </p:cNvSpPr>
          <p:nvPr/>
        </p:nvSpPr>
        <p:spPr>
          <a:xfrm>
            <a:off x="122594" y="3646115"/>
            <a:ext cx="2365229" cy="129983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0"/>
              </a:spcBef>
              <a:buNone/>
            </a:pPr>
            <a:endParaRPr lang="en-IN" sz="1600" dirty="0"/>
          </a:p>
        </p:txBody>
      </p:sp>
      <p:sp>
        <p:nvSpPr>
          <p:cNvPr id="25" name="Text Placeholder 6">
            <a:extLst>
              <a:ext uri="{FF2B5EF4-FFF2-40B4-BE49-F238E27FC236}">
                <a16:creationId xmlns:a16="http://schemas.microsoft.com/office/drawing/2014/main" id="{DEDA41FD-B020-327B-46F5-74F98EBB44E0}"/>
              </a:ext>
            </a:extLst>
          </p:cNvPr>
          <p:cNvSpPr txBox="1">
            <a:spLocks/>
          </p:cNvSpPr>
          <p:nvPr/>
        </p:nvSpPr>
        <p:spPr>
          <a:xfrm>
            <a:off x="2416540" y="3680073"/>
            <a:ext cx="2365229" cy="129983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Bef>
                <a:spcPts val="0"/>
              </a:spcBef>
            </a:pPr>
            <a:endParaRPr lang="en-IN" sz="1600" dirty="0"/>
          </a:p>
        </p:txBody>
      </p:sp>
      <p:pic>
        <p:nvPicPr>
          <p:cNvPr id="6" name="Picture 5">
            <a:extLst>
              <a:ext uri="{FF2B5EF4-FFF2-40B4-BE49-F238E27FC236}">
                <a16:creationId xmlns:a16="http://schemas.microsoft.com/office/drawing/2014/main" id="{3BF6331D-669C-287F-B101-1256391E0AE1}"/>
              </a:ext>
            </a:extLst>
          </p:cNvPr>
          <p:cNvPicPr>
            <a:picLocks noChangeAspect="1"/>
          </p:cNvPicPr>
          <p:nvPr/>
        </p:nvPicPr>
        <p:blipFill>
          <a:blip r:embed="rId4"/>
          <a:stretch>
            <a:fillRect/>
          </a:stretch>
        </p:blipFill>
        <p:spPr>
          <a:xfrm>
            <a:off x="6989584" y="3568241"/>
            <a:ext cx="4840342" cy="3259396"/>
          </a:xfrm>
          <a:prstGeom prst="rect">
            <a:avLst/>
          </a:prstGeom>
        </p:spPr>
      </p:pic>
      <p:pic>
        <p:nvPicPr>
          <p:cNvPr id="15" name="Picture 14">
            <a:extLst>
              <a:ext uri="{FF2B5EF4-FFF2-40B4-BE49-F238E27FC236}">
                <a16:creationId xmlns:a16="http://schemas.microsoft.com/office/drawing/2014/main" id="{569ACF69-1FD4-2B80-E76F-52F35239610D}"/>
              </a:ext>
            </a:extLst>
          </p:cNvPr>
          <p:cNvPicPr>
            <a:picLocks noChangeAspect="1"/>
          </p:cNvPicPr>
          <p:nvPr/>
        </p:nvPicPr>
        <p:blipFill>
          <a:blip r:embed="rId5"/>
          <a:stretch>
            <a:fillRect/>
          </a:stretch>
        </p:blipFill>
        <p:spPr>
          <a:xfrm>
            <a:off x="6951861" y="290388"/>
            <a:ext cx="4840342" cy="3177112"/>
          </a:xfrm>
          <a:prstGeom prst="rect">
            <a:avLst/>
          </a:prstGeom>
        </p:spPr>
      </p:pic>
      <p:sp>
        <p:nvSpPr>
          <p:cNvPr id="9" name="Text Placeholder 8">
            <a:extLst>
              <a:ext uri="{FF2B5EF4-FFF2-40B4-BE49-F238E27FC236}">
                <a16:creationId xmlns:a16="http://schemas.microsoft.com/office/drawing/2014/main" id="{6486F3DD-D2DA-8270-7521-118B49424C0F}"/>
              </a:ext>
            </a:extLst>
          </p:cNvPr>
          <p:cNvSpPr>
            <a:spLocks noGrp="1"/>
          </p:cNvSpPr>
          <p:nvPr>
            <p:ph type="body" sz="quarter" idx="12"/>
          </p:nvPr>
        </p:nvSpPr>
        <p:spPr>
          <a:xfrm>
            <a:off x="250003" y="2476284"/>
            <a:ext cx="3242463" cy="1796339"/>
          </a:xfrm>
        </p:spPr>
        <p:txBody>
          <a:bodyPr>
            <a:normAutofit/>
          </a:bodyPr>
          <a:lstStyle/>
          <a:p>
            <a:pPr marL="0" indent="0">
              <a:buNone/>
            </a:pPr>
            <a:r>
              <a:rPr lang="en-US" b="1" dirty="0"/>
              <a:t>Average Water Usage</a:t>
            </a:r>
            <a:endParaRPr lang="en-US" dirty="0"/>
          </a:p>
          <a:p>
            <a:r>
              <a:rPr lang="en-US" b="1" dirty="0"/>
              <a:t>Zaid:</a:t>
            </a:r>
            <a:r>
              <a:rPr lang="en-US" dirty="0"/>
              <a:t> 6,419.89 m³ </a:t>
            </a:r>
          </a:p>
          <a:p>
            <a:r>
              <a:rPr lang="en-US" b="1" dirty="0"/>
              <a:t>Kharif:</a:t>
            </a:r>
            <a:r>
              <a:rPr lang="en-US" dirty="0"/>
              <a:t> 6,102.20 m³ </a:t>
            </a:r>
          </a:p>
          <a:p>
            <a:pPr>
              <a:spcAft>
                <a:spcPts val="600"/>
              </a:spcAft>
            </a:pPr>
            <a:r>
              <a:rPr lang="en-US" b="1" dirty="0"/>
              <a:t>Rabi:</a:t>
            </a:r>
            <a:r>
              <a:rPr lang="en-US" dirty="0"/>
              <a:t> 5,846.99 m³ </a:t>
            </a:r>
          </a:p>
        </p:txBody>
      </p:sp>
      <p:pic>
        <p:nvPicPr>
          <p:cNvPr id="10" name="Picture 9">
            <a:extLst>
              <a:ext uri="{FF2B5EF4-FFF2-40B4-BE49-F238E27FC236}">
                <a16:creationId xmlns:a16="http://schemas.microsoft.com/office/drawing/2014/main" id="{F758F172-5EAA-000C-E7AD-925D5FA0C413}"/>
              </a:ext>
            </a:extLst>
          </p:cNvPr>
          <p:cNvPicPr>
            <a:picLocks noChangeAspect="1"/>
          </p:cNvPicPr>
          <p:nvPr/>
        </p:nvPicPr>
        <p:blipFill rotWithShape="1">
          <a:blip r:embed="rId2"/>
          <a:srcRect t="98611" r="96309" b="-149"/>
          <a:stretch>
            <a:fillRect/>
          </a:stretch>
        </p:blipFill>
        <p:spPr>
          <a:xfrm flipV="1">
            <a:off x="636201" y="4711550"/>
            <a:ext cx="272957" cy="268355"/>
          </a:xfrm>
          <a:prstGeom prst="rect">
            <a:avLst/>
          </a:prstGeom>
        </p:spPr>
      </p:pic>
      <p:sp>
        <p:nvSpPr>
          <p:cNvPr id="11" name="Text Placeholder 6">
            <a:extLst>
              <a:ext uri="{FF2B5EF4-FFF2-40B4-BE49-F238E27FC236}">
                <a16:creationId xmlns:a16="http://schemas.microsoft.com/office/drawing/2014/main" id="{F6F2A326-4F18-E788-3E9F-ADFE09571ACC}"/>
              </a:ext>
            </a:extLst>
          </p:cNvPr>
          <p:cNvSpPr txBox="1">
            <a:spLocks/>
          </p:cNvSpPr>
          <p:nvPr/>
        </p:nvSpPr>
        <p:spPr>
          <a:xfrm>
            <a:off x="475741" y="4651350"/>
            <a:ext cx="1969753" cy="40948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None/>
            </a:pPr>
            <a:r>
              <a:rPr lang="en-US" sz="2200" b="1" dirty="0"/>
              <a:t>Conclusion :  </a:t>
            </a:r>
          </a:p>
          <a:p>
            <a:pPr algn="just">
              <a:buFont typeface="Wingdings" panose="05000000000000000000" pitchFamily="2" charset="2"/>
              <a:buNone/>
            </a:pPr>
            <a:endParaRPr lang="en-US" sz="1800" dirty="0"/>
          </a:p>
        </p:txBody>
      </p:sp>
      <p:sp>
        <p:nvSpPr>
          <p:cNvPr id="13" name="TextBox 12">
            <a:extLst>
              <a:ext uri="{FF2B5EF4-FFF2-40B4-BE49-F238E27FC236}">
                <a16:creationId xmlns:a16="http://schemas.microsoft.com/office/drawing/2014/main" id="{67078BA2-DC89-7BCF-8973-F15D8AA21F80}"/>
              </a:ext>
            </a:extLst>
          </p:cNvPr>
          <p:cNvSpPr txBox="1"/>
          <p:nvPr/>
        </p:nvSpPr>
        <p:spPr>
          <a:xfrm>
            <a:off x="475742" y="5105864"/>
            <a:ext cx="6194566" cy="1477328"/>
          </a:xfrm>
          <a:prstGeom prst="rect">
            <a:avLst/>
          </a:prstGeom>
          <a:noFill/>
        </p:spPr>
        <p:txBody>
          <a:bodyPr wrap="square">
            <a:spAutoFit/>
          </a:bodyPr>
          <a:lstStyle/>
          <a:p>
            <a:r>
              <a:rPr lang="en-US" dirty="0"/>
              <a:t>Water usage and water efficiency are important dimensions of seasonal agricultural performance. Zaid had the highest average water usage but the lowest average yield, while yield and water efficiency showed a strong positive association. </a:t>
            </a:r>
          </a:p>
        </p:txBody>
      </p:sp>
      <p:sp>
        <p:nvSpPr>
          <p:cNvPr id="17" name="TextBox 16">
            <a:extLst>
              <a:ext uri="{FF2B5EF4-FFF2-40B4-BE49-F238E27FC236}">
                <a16:creationId xmlns:a16="http://schemas.microsoft.com/office/drawing/2014/main" id="{0F3BD412-3CA1-3613-7D1E-177E329C2A6A}"/>
              </a:ext>
            </a:extLst>
          </p:cNvPr>
          <p:cNvSpPr txBox="1"/>
          <p:nvPr/>
        </p:nvSpPr>
        <p:spPr>
          <a:xfrm>
            <a:off x="3201074" y="2487758"/>
            <a:ext cx="3828725" cy="1997983"/>
          </a:xfrm>
          <a:prstGeom prst="rect">
            <a:avLst/>
          </a:prstGeom>
          <a:noFill/>
        </p:spPr>
        <p:txBody>
          <a:bodyPr wrap="square">
            <a:spAutoFit/>
          </a:bodyPr>
          <a:lstStyle/>
          <a:p>
            <a:pPr marL="0" indent="0">
              <a:spcAft>
                <a:spcPts val="1000"/>
              </a:spcAft>
              <a:buNone/>
            </a:pPr>
            <a:r>
              <a:rPr lang="en-US" b="1" dirty="0"/>
              <a:t>Important Relationship</a:t>
            </a:r>
          </a:p>
          <a:p>
            <a:pPr>
              <a:spcAft>
                <a:spcPts val="300"/>
              </a:spcAft>
            </a:pPr>
            <a:r>
              <a:rPr lang="en-US" b="1" dirty="0"/>
              <a:t>Yield ↔ Water Efficiency = 0.913</a:t>
            </a:r>
            <a:endParaRPr lang="en-US" dirty="0"/>
          </a:p>
          <a:p>
            <a:pPr>
              <a:spcBef>
                <a:spcPts val="300"/>
              </a:spcBef>
            </a:pPr>
            <a:r>
              <a:rPr lang="en-US" dirty="0"/>
              <a:t>This indicates a </a:t>
            </a:r>
            <a:r>
              <a:rPr lang="en-US" b="1" dirty="0"/>
              <a:t>very strong positive      association</a:t>
            </a:r>
            <a:r>
              <a:rPr lang="en-US" dirty="0"/>
              <a:t> between yield and water efficiency in the dataset.</a:t>
            </a:r>
          </a:p>
        </p:txBody>
      </p:sp>
      <p:sp>
        <p:nvSpPr>
          <p:cNvPr id="21" name="TextBox 20">
            <a:extLst>
              <a:ext uri="{FF2B5EF4-FFF2-40B4-BE49-F238E27FC236}">
                <a16:creationId xmlns:a16="http://schemas.microsoft.com/office/drawing/2014/main" id="{D97962C0-303E-3628-14E5-8CA3D9D6B0A6}"/>
              </a:ext>
            </a:extLst>
          </p:cNvPr>
          <p:cNvSpPr txBox="1"/>
          <p:nvPr/>
        </p:nvSpPr>
        <p:spPr>
          <a:xfrm>
            <a:off x="1871234" y="1885634"/>
            <a:ext cx="6097604" cy="461665"/>
          </a:xfrm>
          <a:prstGeom prst="rect">
            <a:avLst/>
          </a:prstGeom>
          <a:noFill/>
        </p:spPr>
        <p:txBody>
          <a:bodyPr wrap="square">
            <a:spAutoFit/>
          </a:bodyPr>
          <a:lstStyle/>
          <a:p>
            <a:pPr marL="0" indent="0">
              <a:spcAft>
                <a:spcPts val="800"/>
              </a:spcAft>
              <a:buNone/>
            </a:pPr>
            <a:r>
              <a:rPr lang="en-US" sz="2400" b="1" dirty="0"/>
              <a:t>Key Findings</a:t>
            </a:r>
          </a:p>
        </p:txBody>
      </p:sp>
      <p:cxnSp>
        <p:nvCxnSpPr>
          <p:cNvPr id="24" name="Straight Connector 23">
            <a:extLst>
              <a:ext uri="{FF2B5EF4-FFF2-40B4-BE49-F238E27FC236}">
                <a16:creationId xmlns:a16="http://schemas.microsoft.com/office/drawing/2014/main" id="{DFC3DA47-1659-4759-D52F-D398196FE600}"/>
              </a:ext>
            </a:extLst>
          </p:cNvPr>
          <p:cNvCxnSpPr/>
          <p:nvPr/>
        </p:nvCxnSpPr>
        <p:spPr>
          <a:xfrm>
            <a:off x="3031958" y="2637321"/>
            <a:ext cx="0" cy="1476000"/>
          </a:xfrm>
          <a:prstGeom prst="line">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7368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p:tgtEl>
                                          <p:spTgt spid="12"/>
                                        </p:tgtEl>
                                        <p:attrNameLst>
                                          <p:attrName>ppt_y</p:attrName>
                                        </p:attrNameLst>
                                      </p:cBhvr>
                                      <p:tavLst>
                                        <p:tav tm="0">
                                          <p:val>
                                            <p:strVal val="#ppt_y+#ppt_h*1.125000"/>
                                          </p:val>
                                        </p:tav>
                                        <p:tav tm="100000">
                                          <p:val>
                                            <p:strVal val="#ppt_y"/>
                                          </p:val>
                                        </p:tav>
                                      </p:tavLst>
                                    </p:anim>
                                    <p:animEffect transition="in" filter="wipe(up)">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Effect transition="in" filter="fade">
                                      <p:cBhvr>
                                        <p:cTn id="33" dur="500"/>
                                        <p:tgtEl>
                                          <p:spTgt spid="9">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xEl>
                                              <p:pRg st="1" end="1"/>
                                            </p:txEl>
                                          </p:spTgt>
                                        </p:tgtEl>
                                        <p:attrNameLst>
                                          <p:attrName>style.visibility</p:attrName>
                                        </p:attrNameLst>
                                      </p:cBhvr>
                                      <p:to>
                                        <p:strVal val="visible"/>
                                      </p:to>
                                    </p:set>
                                    <p:animEffect transition="in" filter="fade">
                                      <p:cBhvr>
                                        <p:cTn id="36" dur="500"/>
                                        <p:tgtEl>
                                          <p:spTgt spid="9">
                                            <p:txEl>
                                              <p:pRg st="1" end="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animEffect transition="in" filter="fade">
                                      <p:cBhvr>
                                        <p:cTn id="39" dur="500"/>
                                        <p:tgtEl>
                                          <p:spTgt spid="9">
                                            <p:txEl>
                                              <p:pRg st="2" end="2"/>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txEl>
                                              <p:pRg st="3" end="3"/>
                                            </p:txEl>
                                          </p:spTgt>
                                        </p:tgtEl>
                                        <p:attrNameLst>
                                          <p:attrName>style.visibility</p:attrName>
                                        </p:attrNameLst>
                                      </p:cBhvr>
                                      <p:to>
                                        <p:strVal val="visible"/>
                                      </p:to>
                                    </p:set>
                                    <p:animEffect transition="in" filter="fade">
                                      <p:cBhvr>
                                        <p:cTn id="42" dur="500"/>
                                        <p:tgtEl>
                                          <p:spTgt spid="9">
                                            <p:txEl>
                                              <p:pRg st="3" end="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9" grpId="0" build="p"/>
      <p:bldP spid="11" grpId="0"/>
      <p:bldP spid="13" grpId="0"/>
      <p:bldP spid="17"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72C82-ADB1-E5B9-4029-3A4EE787C1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35D508-3879-1C35-99EF-CDAF375CD6B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B72B0FF-BF7E-770A-8E8C-B3F5EE31E155}"/>
              </a:ext>
            </a:extLst>
          </p:cNvPr>
          <p:cNvSpPr>
            <a:spLocks noGrp="1"/>
          </p:cNvSpPr>
          <p:nvPr>
            <p:ph type="title"/>
          </p:nvPr>
        </p:nvSpPr>
        <p:spPr>
          <a:xfrm>
            <a:off x="332269" y="18061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EFADC30-011E-CCE3-7333-6BFDF64C5E7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FFD19E4-BF05-76B1-1EBE-00BC48E9F5D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6D656C6-A8D7-EF5D-6C25-F12200EDA2A9}"/>
              </a:ext>
            </a:extLst>
          </p:cNvPr>
          <p:cNvPicPr>
            <a:picLocks noChangeAspect="1"/>
          </p:cNvPicPr>
          <p:nvPr/>
        </p:nvPicPr>
        <p:blipFill>
          <a:blip r:embed="rId3"/>
          <a:stretch>
            <a:fillRect/>
          </a:stretch>
        </p:blipFill>
        <p:spPr>
          <a:xfrm>
            <a:off x="5861249" y="1698561"/>
            <a:ext cx="2181225" cy="485775"/>
          </a:xfrm>
          <a:prstGeom prst="rect">
            <a:avLst/>
          </a:prstGeom>
        </p:spPr>
      </p:pic>
      <p:sp>
        <p:nvSpPr>
          <p:cNvPr id="12" name="Title 3">
            <a:extLst>
              <a:ext uri="{FF2B5EF4-FFF2-40B4-BE49-F238E27FC236}">
                <a16:creationId xmlns:a16="http://schemas.microsoft.com/office/drawing/2014/main" id="{3F1E01DE-3DAF-11A2-DCE4-7D33763552FE}"/>
              </a:ext>
            </a:extLst>
          </p:cNvPr>
          <p:cNvSpPr txBox="1">
            <a:spLocks/>
          </p:cNvSpPr>
          <p:nvPr/>
        </p:nvSpPr>
        <p:spPr>
          <a:xfrm>
            <a:off x="316703" y="1146900"/>
            <a:ext cx="8447633" cy="485775"/>
          </a:xfrm>
          <a:prstGeom prst="rect">
            <a:avLst/>
          </a:prstGeom>
        </p:spPr>
        <p:txBody>
          <a:bodyPr vert="horz" lIns="91440" tIns="45720" rIns="91440" bIns="45720" rtlCol="0" anchor="t">
            <a:normAutofit fontScale="9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u="sng" dirty="0"/>
              <a:t>Irrigation Method and Profitability</a:t>
            </a:r>
          </a:p>
        </p:txBody>
      </p:sp>
      <p:sp>
        <p:nvSpPr>
          <p:cNvPr id="14" name="Text Placeholder 6">
            <a:extLst>
              <a:ext uri="{FF2B5EF4-FFF2-40B4-BE49-F238E27FC236}">
                <a16:creationId xmlns:a16="http://schemas.microsoft.com/office/drawing/2014/main" id="{BF80EC15-A02E-7F3B-10B6-E1250FE0059D}"/>
              </a:ext>
            </a:extLst>
          </p:cNvPr>
          <p:cNvSpPr txBox="1">
            <a:spLocks/>
          </p:cNvSpPr>
          <p:nvPr/>
        </p:nvSpPr>
        <p:spPr>
          <a:xfrm>
            <a:off x="446787" y="3411503"/>
            <a:ext cx="1969753" cy="40948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None/>
            </a:pPr>
            <a:r>
              <a:rPr lang="en-US" sz="2200" b="1" dirty="0"/>
              <a:t>Conclusion :  </a:t>
            </a:r>
          </a:p>
          <a:p>
            <a:pPr algn="just">
              <a:buFont typeface="Wingdings" panose="05000000000000000000" pitchFamily="2" charset="2"/>
              <a:buNone/>
            </a:pPr>
            <a:endParaRPr lang="en-US" sz="1800" dirty="0"/>
          </a:p>
        </p:txBody>
      </p:sp>
      <p:sp>
        <p:nvSpPr>
          <p:cNvPr id="19" name="TextBox 18">
            <a:extLst>
              <a:ext uri="{FF2B5EF4-FFF2-40B4-BE49-F238E27FC236}">
                <a16:creationId xmlns:a16="http://schemas.microsoft.com/office/drawing/2014/main" id="{58E5593B-C931-60EC-AFE9-0807A5F7A14B}"/>
              </a:ext>
            </a:extLst>
          </p:cNvPr>
          <p:cNvSpPr txBox="1"/>
          <p:nvPr/>
        </p:nvSpPr>
        <p:spPr>
          <a:xfrm>
            <a:off x="609994" y="5813455"/>
            <a:ext cx="5978319" cy="923330"/>
          </a:xfrm>
          <a:prstGeom prst="rect">
            <a:avLst/>
          </a:prstGeom>
          <a:noFill/>
        </p:spPr>
        <p:txBody>
          <a:bodyPr wrap="square">
            <a:spAutoFit/>
          </a:bodyPr>
          <a:lstStyle/>
          <a:p>
            <a:r>
              <a:rPr lang="en-US" dirty="0"/>
              <a:t>Therefore, the most profitable irrigation method varies by season, showing that irrigation performance should be evaluated season-wise. </a:t>
            </a:r>
          </a:p>
        </p:txBody>
      </p:sp>
      <p:pic>
        <p:nvPicPr>
          <p:cNvPr id="11" name="Picture 10">
            <a:extLst>
              <a:ext uri="{FF2B5EF4-FFF2-40B4-BE49-F238E27FC236}">
                <a16:creationId xmlns:a16="http://schemas.microsoft.com/office/drawing/2014/main" id="{DDF7D5C7-606F-BCAC-30D8-EF136772D449}"/>
              </a:ext>
            </a:extLst>
          </p:cNvPr>
          <p:cNvPicPr>
            <a:picLocks noChangeAspect="1"/>
          </p:cNvPicPr>
          <p:nvPr/>
        </p:nvPicPr>
        <p:blipFill>
          <a:blip r:embed="rId4"/>
          <a:stretch>
            <a:fillRect/>
          </a:stretch>
        </p:blipFill>
        <p:spPr>
          <a:xfrm>
            <a:off x="6415067" y="1698561"/>
            <a:ext cx="5731102" cy="4394231"/>
          </a:xfrm>
          <a:prstGeom prst="rect">
            <a:avLst/>
          </a:prstGeom>
        </p:spPr>
      </p:pic>
      <p:sp>
        <p:nvSpPr>
          <p:cNvPr id="22" name="Text Placeholder 6">
            <a:extLst>
              <a:ext uri="{FF2B5EF4-FFF2-40B4-BE49-F238E27FC236}">
                <a16:creationId xmlns:a16="http://schemas.microsoft.com/office/drawing/2014/main" id="{6E7BBB70-71C1-F5A8-79E0-5EEE2384BEB1}"/>
              </a:ext>
            </a:extLst>
          </p:cNvPr>
          <p:cNvSpPr txBox="1">
            <a:spLocks/>
          </p:cNvSpPr>
          <p:nvPr/>
        </p:nvSpPr>
        <p:spPr>
          <a:xfrm>
            <a:off x="122594" y="3646115"/>
            <a:ext cx="2365229" cy="129983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0"/>
              </a:spcBef>
              <a:buNone/>
            </a:pPr>
            <a:endParaRPr lang="en-IN" sz="1600" dirty="0"/>
          </a:p>
        </p:txBody>
      </p:sp>
      <p:sp>
        <p:nvSpPr>
          <p:cNvPr id="25" name="Text Placeholder 6">
            <a:extLst>
              <a:ext uri="{FF2B5EF4-FFF2-40B4-BE49-F238E27FC236}">
                <a16:creationId xmlns:a16="http://schemas.microsoft.com/office/drawing/2014/main" id="{7F076A39-50D4-8260-9343-2A278C441168}"/>
              </a:ext>
            </a:extLst>
          </p:cNvPr>
          <p:cNvSpPr txBox="1">
            <a:spLocks/>
          </p:cNvSpPr>
          <p:nvPr/>
        </p:nvSpPr>
        <p:spPr>
          <a:xfrm>
            <a:off x="2416540" y="3680073"/>
            <a:ext cx="2365229" cy="129983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Bef>
                <a:spcPts val="0"/>
              </a:spcBef>
            </a:pPr>
            <a:endParaRPr lang="en-IN" sz="1600" dirty="0"/>
          </a:p>
        </p:txBody>
      </p:sp>
      <p:graphicFrame>
        <p:nvGraphicFramePr>
          <p:cNvPr id="39" name="Table 38">
            <a:extLst>
              <a:ext uri="{FF2B5EF4-FFF2-40B4-BE49-F238E27FC236}">
                <a16:creationId xmlns:a16="http://schemas.microsoft.com/office/drawing/2014/main" id="{1FB4592A-2B48-3A2E-8B55-C95D9770A21D}"/>
              </a:ext>
            </a:extLst>
          </p:cNvPr>
          <p:cNvGraphicFramePr>
            <a:graphicFrameLocks noGrp="1"/>
          </p:cNvGraphicFramePr>
          <p:nvPr>
            <p:extLst>
              <p:ext uri="{D42A27DB-BD31-4B8C-83A1-F6EECF244321}">
                <p14:modId xmlns:p14="http://schemas.microsoft.com/office/powerpoint/2010/main" val="2805935115"/>
              </p:ext>
            </p:extLst>
          </p:nvPr>
        </p:nvGraphicFramePr>
        <p:xfrm>
          <a:off x="332269" y="1798635"/>
          <a:ext cx="6067755" cy="1463040"/>
        </p:xfrm>
        <a:graphic>
          <a:graphicData uri="http://schemas.openxmlformats.org/drawingml/2006/table">
            <a:tbl>
              <a:tblPr/>
              <a:tblGrid>
                <a:gridCol w="1015962">
                  <a:extLst>
                    <a:ext uri="{9D8B030D-6E8A-4147-A177-3AD203B41FA5}">
                      <a16:colId xmlns:a16="http://schemas.microsoft.com/office/drawing/2014/main" val="42559023"/>
                    </a:ext>
                  </a:extLst>
                </a:gridCol>
                <a:gridCol w="1260910">
                  <a:extLst>
                    <a:ext uri="{9D8B030D-6E8A-4147-A177-3AD203B41FA5}">
                      <a16:colId xmlns:a16="http://schemas.microsoft.com/office/drawing/2014/main" val="571921496"/>
                    </a:ext>
                  </a:extLst>
                </a:gridCol>
                <a:gridCol w="1270535">
                  <a:extLst>
                    <a:ext uri="{9D8B030D-6E8A-4147-A177-3AD203B41FA5}">
                      <a16:colId xmlns:a16="http://schemas.microsoft.com/office/drawing/2014/main" val="2915238170"/>
                    </a:ext>
                  </a:extLst>
                </a:gridCol>
                <a:gridCol w="1270534">
                  <a:extLst>
                    <a:ext uri="{9D8B030D-6E8A-4147-A177-3AD203B41FA5}">
                      <a16:colId xmlns:a16="http://schemas.microsoft.com/office/drawing/2014/main" val="2849003100"/>
                    </a:ext>
                  </a:extLst>
                </a:gridCol>
                <a:gridCol w="1249814">
                  <a:extLst>
                    <a:ext uri="{9D8B030D-6E8A-4147-A177-3AD203B41FA5}">
                      <a16:colId xmlns:a16="http://schemas.microsoft.com/office/drawing/2014/main" val="2718072493"/>
                    </a:ext>
                  </a:extLst>
                </a:gridCol>
              </a:tblGrid>
              <a:tr h="0">
                <a:tc>
                  <a:txBody>
                    <a:bodyPr/>
                    <a:lstStyle/>
                    <a:p>
                      <a:pPr>
                        <a:buNone/>
                      </a:pPr>
                      <a:r>
                        <a:rPr lang="en-IN"/>
                        <a:t>Season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r">
                        <a:buNone/>
                      </a:pPr>
                      <a:r>
                        <a:rPr lang="en-IN" dirty="0"/>
                        <a:t>Drip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r">
                        <a:buNone/>
                      </a:pPr>
                      <a:r>
                        <a:rPr lang="en-IN" dirty="0"/>
                        <a:t>Flood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r">
                        <a:buNone/>
                      </a:pPr>
                      <a:r>
                        <a:rPr lang="en-IN"/>
                        <a:t>Rainfed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r">
                        <a:buNone/>
                      </a:pPr>
                      <a:r>
                        <a:rPr lang="en-IN" dirty="0"/>
                        <a:t>Sprinkler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2853911803"/>
                  </a:ext>
                </a:extLst>
              </a:tr>
              <a:tr h="0">
                <a:tc>
                  <a:txBody>
                    <a:bodyPr/>
                    <a:lstStyle/>
                    <a:p>
                      <a:pPr>
                        <a:buNone/>
                      </a:pPr>
                      <a:r>
                        <a:rPr lang="en-IN" b="1"/>
                        <a:t>Kharif</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₹317,222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dirty="0"/>
                        <a:t>₹133,374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dirty="0"/>
                        <a:t>₹158,974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dirty="0"/>
                        <a:t>₹116,880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2224232"/>
                  </a:ext>
                </a:extLst>
              </a:tr>
              <a:tr h="0">
                <a:tc>
                  <a:txBody>
                    <a:bodyPr/>
                    <a:lstStyle/>
                    <a:p>
                      <a:pPr>
                        <a:buNone/>
                      </a:pPr>
                      <a:r>
                        <a:rPr lang="en-IN" b="1"/>
                        <a:t>Rabi</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₹187,843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₹58,825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₹45,232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₹76,502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026613"/>
                  </a:ext>
                </a:extLst>
              </a:tr>
              <a:tr h="0">
                <a:tc>
                  <a:txBody>
                    <a:bodyPr/>
                    <a:lstStyle/>
                    <a:p>
                      <a:pPr>
                        <a:buNone/>
                      </a:pPr>
                      <a:r>
                        <a:rPr lang="en-IN" b="1"/>
                        <a:t>Zaid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dirty="0"/>
                        <a:t>₹21,292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−₹69,787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dirty="0"/>
                        <a:t>−₹79,467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dirty="0"/>
                        <a:t>₹57,909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8054616"/>
                  </a:ext>
                </a:extLst>
              </a:tr>
            </a:tbl>
          </a:graphicData>
        </a:graphic>
      </p:graphicFrame>
      <p:sp>
        <p:nvSpPr>
          <p:cNvPr id="42" name="Text Placeholder 6">
            <a:extLst>
              <a:ext uri="{FF2B5EF4-FFF2-40B4-BE49-F238E27FC236}">
                <a16:creationId xmlns:a16="http://schemas.microsoft.com/office/drawing/2014/main" id="{4E0C88EA-1FF8-BB0D-7DE9-2CCA81FE6120}"/>
              </a:ext>
            </a:extLst>
          </p:cNvPr>
          <p:cNvSpPr>
            <a:spLocks noGrp="1"/>
          </p:cNvSpPr>
          <p:nvPr>
            <p:ph type="body" sz="quarter" idx="12"/>
          </p:nvPr>
        </p:nvSpPr>
        <p:spPr>
          <a:xfrm>
            <a:off x="518292" y="3906648"/>
            <a:ext cx="5529914" cy="1822098"/>
          </a:xfrm>
        </p:spPr>
        <p:txBody>
          <a:bodyPr>
            <a:noAutofit/>
          </a:bodyPr>
          <a:lstStyle/>
          <a:p>
            <a:pPr>
              <a:spcBef>
                <a:spcPts val="0"/>
              </a:spcBef>
            </a:pPr>
            <a:r>
              <a:rPr lang="en-IN" sz="1750" b="1" dirty="0"/>
              <a:t>Kharif </a:t>
            </a:r>
          </a:p>
          <a:p>
            <a:pPr marL="0" indent="0">
              <a:spcBef>
                <a:spcPts val="0"/>
              </a:spcBef>
              <a:spcAft>
                <a:spcPts val="600"/>
              </a:spcAft>
              <a:buNone/>
            </a:pPr>
            <a:r>
              <a:rPr lang="en-IN" sz="1750" b="1" dirty="0"/>
              <a:t>     </a:t>
            </a:r>
            <a:r>
              <a:rPr lang="en-IN" sz="1750" dirty="0"/>
              <a:t>Highest Avg. Profit :</a:t>
            </a:r>
            <a:r>
              <a:rPr lang="en-IN" sz="1750" b="1" dirty="0"/>
              <a:t> Drip → ₹317,222</a:t>
            </a:r>
          </a:p>
          <a:p>
            <a:pPr>
              <a:spcBef>
                <a:spcPts val="0"/>
              </a:spcBef>
            </a:pPr>
            <a:r>
              <a:rPr lang="en-IN" sz="1750" b="1" dirty="0"/>
              <a:t>Rabi </a:t>
            </a:r>
          </a:p>
          <a:p>
            <a:pPr marL="0" indent="0">
              <a:spcBef>
                <a:spcPts val="0"/>
              </a:spcBef>
              <a:spcAft>
                <a:spcPts val="600"/>
              </a:spcAft>
              <a:buNone/>
            </a:pPr>
            <a:r>
              <a:rPr lang="en-IN" sz="1750" dirty="0"/>
              <a:t>     Highest Avg. Profit :</a:t>
            </a:r>
            <a:r>
              <a:rPr lang="en-IN" sz="1750" b="1" dirty="0"/>
              <a:t> </a:t>
            </a:r>
            <a:r>
              <a:rPr lang="en-IN" sz="1750" dirty="0"/>
              <a:t>Drip → ₹187,843</a:t>
            </a:r>
          </a:p>
          <a:p>
            <a:pPr>
              <a:spcBef>
                <a:spcPts val="0"/>
              </a:spcBef>
            </a:pPr>
            <a:r>
              <a:rPr lang="en-IN" sz="1750" b="1" dirty="0"/>
              <a:t>Zaid</a:t>
            </a:r>
          </a:p>
          <a:p>
            <a:pPr marL="0" indent="0">
              <a:spcBef>
                <a:spcPts val="0"/>
              </a:spcBef>
              <a:buNone/>
            </a:pPr>
            <a:r>
              <a:rPr lang="en-IN" sz="1750" dirty="0"/>
              <a:t>     Highest Avg. Profit :</a:t>
            </a:r>
            <a:r>
              <a:rPr lang="en-IN" sz="1750" b="1" dirty="0"/>
              <a:t> </a:t>
            </a:r>
            <a:r>
              <a:rPr lang="en-IN" sz="1750" dirty="0"/>
              <a:t>Sprinkler → ₹57,909</a:t>
            </a:r>
          </a:p>
        </p:txBody>
      </p:sp>
    </p:spTree>
    <p:extLst>
      <p:ext uri="{BB962C8B-B14F-4D97-AF65-F5344CB8AC3E}">
        <p14:creationId xmlns:p14="http://schemas.microsoft.com/office/powerpoint/2010/main" val="2415269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p:tgtEl>
                                          <p:spTgt spid="12"/>
                                        </p:tgtEl>
                                        <p:attrNameLst>
                                          <p:attrName>ppt_y</p:attrName>
                                        </p:attrNameLst>
                                      </p:cBhvr>
                                      <p:tavLst>
                                        <p:tav tm="0">
                                          <p:val>
                                            <p:strVal val="#ppt_y+#ppt_h*1.125000"/>
                                          </p:val>
                                        </p:tav>
                                        <p:tav tm="100000">
                                          <p:val>
                                            <p:strVal val="#ppt_y"/>
                                          </p:val>
                                        </p:tav>
                                      </p:tavLst>
                                    </p:anim>
                                    <p:animEffect transition="in" filter="wipe(up)">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2">
                                            <p:txEl>
                                              <p:pRg st="0" end="0"/>
                                            </p:txEl>
                                          </p:spTgt>
                                        </p:tgtEl>
                                        <p:attrNameLst>
                                          <p:attrName>style.visibility</p:attrName>
                                        </p:attrNameLst>
                                      </p:cBhvr>
                                      <p:to>
                                        <p:strVal val="visible"/>
                                      </p:to>
                                    </p:set>
                                    <p:animEffect transition="in" filter="fade">
                                      <p:cBhvr>
                                        <p:cTn id="35" dur="500"/>
                                        <p:tgtEl>
                                          <p:spTgt spid="42">
                                            <p:txEl>
                                              <p:pRg st="0" end="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2">
                                            <p:txEl>
                                              <p:pRg st="1" end="1"/>
                                            </p:txEl>
                                          </p:spTgt>
                                        </p:tgtEl>
                                        <p:attrNameLst>
                                          <p:attrName>style.visibility</p:attrName>
                                        </p:attrNameLst>
                                      </p:cBhvr>
                                      <p:to>
                                        <p:strVal val="visible"/>
                                      </p:to>
                                    </p:set>
                                    <p:animEffect transition="in" filter="fade">
                                      <p:cBhvr>
                                        <p:cTn id="38" dur="500"/>
                                        <p:tgtEl>
                                          <p:spTgt spid="42">
                                            <p:txEl>
                                              <p:pRg st="1" end="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2">
                                            <p:txEl>
                                              <p:pRg st="2" end="2"/>
                                            </p:txEl>
                                          </p:spTgt>
                                        </p:tgtEl>
                                        <p:attrNameLst>
                                          <p:attrName>style.visibility</p:attrName>
                                        </p:attrNameLst>
                                      </p:cBhvr>
                                      <p:to>
                                        <p:strVal val="visible"/>
                                      </p:to>
                                    </p:set>
                                    <p:animEffect transition="in" filter="fade">
                                      <p:cBhvr>
                                        <p:cTn id="41" dur="500"/>
                                        <p:tgtEl>
                                          <p:spTgt spid="42">
                                            <p:txEl>
                                              <p:pRg st="2" end="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2">
                                            <p:txEl>
                                              <p:pRg st="3" end="3"/>
                                            </p:txEl>
                                          </p:spTgt>
                                        </p:tgtEl>
                                        <p:attrNameLst>
                                          <p:attrName>style.visibility</p:attrName>
                                        </p:attrNameLst>
                                      </p:cBhvr>
                                      <p:to>
                                        <p:strVal val="visible"/>
                                      </p:to>
                                    </p:set>
                                    <p:animEffect transition="in" filter="fade">
                                      <p:cBhvr>
                                        <p:cTn id="44" dur="500"/>
                                        <p:tgtEl>
                                          <p:spTgt spid="42">
                                            <p:txEl>
                                              <p:pRg st="3" end="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42">
                                            <p:txEl>
                                              <p:pRg st="4" end="4"/>
                                            </p:txEl>
                                          </p:spTgt>
                                        </p:tgtEl>
                                        <p:attrNameLst>
                                          <p:attrName>style.visibility</p:attrName>
                                        </p:attrNameLst>
                                      </p:cBhvr>
                                      <p:to>
                                        <p:strVal val="visible"/>
                                      </p:to>
                                    </p:set>
                                    <p:animEffect transition="in" filter="fade">
                                      <p:cBhvr>
                                        <p:cTn id="47" dur="500"/>
                                        <p:tgtEl>
                                          <p:spTgt spid="42">
                                            <p:txEl>
                                              <p:pRg st="4" end="4"/>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42">
                                            <p:txEl>
                                              <p:pRg st="5" end="5"/>
                                            </p:txEl>
                                          </p:spTgt>
                                        </p:tgtEl>
                                        <p:attrNameLst>
                                          <p:attrName>style.visibility</p:attrName>
                                        </p:attrNameLst>
                                      </p:cBhvr>
                                      <p:to>
                                        <p:strVal val="visible"/>
                                      </p:to>
                                    </p:set>
                                    <p:animEffect transition="in" filter="fade">
                                      <p:cBhvr>
                                        <p:cTn id="50" dur="500"/>
                                        <p:tgtEl>
                                          <p:spTgt spid="42">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9">
                                            <p:txEl>
                                              <p:pRg st="0" end="0"/>
                                            </p:txEl>
                                          </p:spTgt>
                                        </p:tgtEl>
                                        <p:attrNameLst>
                                          <p:attrName>style.visibility</p:attrName>
                                        </p:attrNameLst>
                                      </p:cBhvr>
                                      <p:to>
                                        <p:strVal val="visible"/>
                                      </p:to>
                                    </p:set>
                                    <p:animEffect transition="in" filter="fade">
                                      <p:cBhvr>
                                        <p:cTn id="55"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84502-2EAB-AE0F-8F60-59EC0BD711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066DF9-3EFA-A9C7-35FB-686D4EB2FB0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46B0155-B074-8A8C-2431-F6431DD3C0AC}"/>
              </a:ext>
            </a:extLst>
          </p:cNvPr>
          <p:cNvSpPr>
            <a:spLocks noGrp="1"/>
          </p:cNvSpPr>
          <p:nvPr>
            <p:ph type="title"/>
          </p:nvPr>
        </p:nvSpPr>
        <p:spPr>
          <a:xfrm>
            <a:off x="320982" y="15603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97DE422-F2ED-B551-47A3-5B21CB5F5BE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80F70DE-EC54-E152-6746-C27732A50B7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2128221-634A-487E-0E41-DB1659FA9995}"/>
              </a:ext>
            </a:extLst>
          </p:cNvPr>
          <p:cNvPicPr>
            <a:picLocks noChangeAspect="1"/>
          </p:cNvPicPr>
          <p:nvPr/>
        </p:nvPicPr>
        <p:blipFill>
          <a:blip r:embed="rId3"/>
          <a:stretch>
            <a:fillRect/>
          </a:stretch>
        </p:blipFill>
        <p:spPr>
          <a:xfrm>
            <a:off x="5861249" y="1698561"/>
            <a:ext cx="2181225" cy="485775"/>
          </a:xfrm>
          <a:prstGeom prst="rect">
            <a:avLst/>
          </a:prstGeom>
        </p:spPr>
      </p:pic>
      <p:sp>
        <p:nvSpPr>
          <p:cNvPr id="12" name="Title 3">
            <a:extLst>
              <a:ext uri="{FF2B5EF4-FFF2-40B4-BE49-F238E27FC236}">
                <a16:creationId xmlns:a16="http://schemas.microsoft.com/office/drawing/2014/main" id="{186896A4-C2F7-FEB0-A3F5-BE736D44BFCF}"/>
              </a:ext>
            </a:extLst>
          </p:cNvPr>
          <p:cNvSpPr txBox="1">
            <a:spLocks/>
          </p:cNvSpPr>
          <p:nvPr/>
        </p:nvSpPr>
        <p:spPr>
          <a:xfrm>
            <a:off x="320982" y="1106050"/>
            <a:ext cx="8447633" cy="485775"/>
          </a:xfrm>
          <a:prstGeom prst="rect">
            <a:avLst/>
          </a:prstGeom>
        </p:spPr>
        <p:txBody>
          <a:bodyPr vert="horz" lIns="91440" tIns="45720" rIns="91440" bIns="45720" rtlCol="0" anchor="t">
            <a:normAutofit fontScale="9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u="sng" dirty="0"/>
              <a:t>Profitability Risk Across Seasons</a:t>
            </a:r>
          </a:p>
        </p:txBody>
      </p:sp>
      <p:pic>
        <p:nvPicPr>
          <p:cNvPr id="6" name="Picture 5">
            <a:extLst>
              <a:ext uri="{FF2B5EF4-FFF2-40B4-BE49-F238E27FC236}">
                <a16:creationId xmlns:a16="http://schemas.microsoft.com/office/drawing/2014/main" id="{256BC630-D353-7603-395F-8E3D511141AE}"/>
              </a:ext>
            </a:extLst>
          </p:cNvPr>
          <p:cNvPicPr>
            <a:picLocks noChangeAspect="1"/>
          </p:cNvPicPr>
          <p:nvPr/>
        </p:nvPicPr>
        <p:blipFill>
          <a:blip r:embed="rId4"/>
          <a:stretch>
            <a:fillRect/>
          </a:stretch>
        </p:blipFill>
        <p:spPr>
          <a:xfrm>
            <a:off x="172896" y="1807096"/>
            <a:ext cx="3706343" cy="2719629"/>
          </a:xfrm>
          <a:prstGeom prst="rect">
            <a:avLst/>
          </a:prstGeom>
        </p:spPr>
      </p:pic>
      <p:pic>
        <p:nvPicPr>
          <p:cNvPr id="11" name="Picture 10">
            <a:extLst>
              <a:ext uri="{FF2B5EF4-FFF2-40B4-BE49-F238E27FC236}">
                <a16:creationId xmlns:a16="http://schemas.microsoft.com/office/drawing/2014/main" id="{4004C0BB-51D0-D30C-54C9-2092D105614B}"/>
              </a:ext>
            </a:extLst>
          </p:cNvPr>
          <p:cNvPicPr>
            <a:picLocks noChangeAspect="1"/>
          </p:cNvPicPr>
          <p:nvPr/>
        </p:nvPicPr>
        <p:blipFill>
          <a:blip r:embed="rId5"/>
          <a:stretch>
            <a:fillRect/>
          </a:stretch>
        </p:blipFill>
        <p:spPr>
          <a:xfrm>
            <a:off x="4145224" y="1898976"/>
            <a:ext cx="3928145" cy="2803951"/>
          </a:xfrm>
          <a:prstGeom prst="rect">
            <a:avLst/>
          </a:prstGeom>
        </p:spPr>
      </p:pic>
      <p:pic>
        <p:nvPicPr>
          <p:cNvPr id="14" name="Picture 13">
            <a:extLst>
              <a:ext uri="{FF2B5EF4-FFF2-40B4-BE49-F238E27FC236}">
                <a16:creationId xmlns:a16="http://schemas.microsoft.com/office/drawing/2014/main" id="{A3A635BE-94F0-30BC-CA8A-D39E48D39D4A}"/>
              </a:ext>
            </a:extLst>
          </p:cNvPr>
          <p:cNvPicPr>
            <a:picLocks noChangeAspect="1"/>
          </p:cNvPicPr>
          <p:nvPr/>
        </p:nvPicPr>
        <p:blipFill>
          <a:blip r:embed="rId6"/>
          <a:stretch>
            <a:fillRect/>
          </a:stretch>
        </p:blipFill>
        <p:spPr>
          <a:xfrm>
            <a:off x="8567288" y="1881646"/>
            <a:ext cx="3548069" cy="2783961"/>
          </a:xfrm>
          <a:prstGeom prst="rect">
            <a:avLst/>
          </a:prstGeom>
        </p:spPr>
      </p:pic>
      <p:sp>
        <p:nvSpPr>
          <p:cNvPr id="18" name="Text Placeholder 8">
            <a:extLst>
              <a:ext uri="{FF2B5EF4-FFF2-40B4-BE49-F238E27FC236}">
                <a16:creationId xmlns:a16="http://schemas.microsoft.com/office/drawing/2014/main" id="{E8E5C003-EAE2-3167-1645-87972D21BFE9}"/>
              </a:ext>
            </a:extLst>
          </p:cNvPr>
          <p:cNvSpPr>
            <a:spLocks noGrp="1"/>
          </p:cNvSpPr>
          <p:nvPr>
            <p:ph type="body" sz="quarter" idx="12"/>
          </p:nvPr>
        </p:nvSpPr>
        <p:spPr>
          <a:xfrm>
            <a:off x="664123" y="4385909"/>
            <a:ext cx="5974363" cy="2393440"/>
          </a:xfrm>
        </p:spPr>
        <p:txBody>
          <a:bodyPr>
            <a:noAutofit/>
          </a:bodyPr>
          <a:lstStyle/>
          <a:p>
            <a:pPr>
              <a:spcAft>
                <a:spcPts val="1200"/>
              </a:spcAft>
              <a:buNone/>
            </a:pPr>
            <a:r>
              <a:rPr lang="en-US" sz="2200" b="1" dirty="0"/>
              <a:t>Key observations:</a:t>
            </a:r>
            <a:endParaRPr lang="en-US" sz="2200" dirty="0"/>
          </a:p>
          <a:p>
            <a:pPr>
              <a:spcBef>
                <a:spcPts val="0"/>
              </a:spcBef>
              <a:spcAft>
                <a:spcPts val="300"/>
              </a:spcAft>
              <a:buFont typeface="Arial" panose="020B0604020202020204" pitchFamily="34" charset="0"/>
              <a:buChar char="•"/>
            </a:pPr>
            <a:r>
              <a:rPr lang="en-US" sz="1750" b="1" dirty="0"/>
              <a:t>Kharif:</a:t>
            </a:r>
            <a:r>
              <a:rPr lang="en-US" sz="1750" dirty="0"/>
              <a:t> 42.21% records show negative profit. </a:t>
            </a:r>
          </a:p>
          <a:p>
            <a:pPr>
              <a:spcBef>
                <a:spcPts val="0"/>
              </a:spcBef>
              <a:spcAft>
                <a:spcPts val="300"/>
              </a:spcAft>
              <a:buFont typeface="Arial" panose="020B0604020202020204" pitchFamily="34" charset="0"/>
              <a:buChar char="•"/>
            </a:pPr>
            <a:r>
              <a:rPr lang="en-US" sz="1750" b="1" dirty="0"/>
              <a:t>Rabi:</a:t>
            </a:r>
            <a:r>
              <a:rPr lang="en-US" sz="1750" dirty="0"/>
              <a:t> 51.14% records show negative profit. </a:t>
            </a:r>
          </a:p>
          <a:p>
            <a:pPr>
              <a:spcBef>
                <a:spcPts val="0"/>
              </a:spcBef>
              <a:spcAft>
                <a:spcPts val="600"/>
              </a:spcAft>
              <a:buFont typeface="Arial" panose="020B0604020202020204" pitchFamily="34" charset="0"/>
              <a:buChar char="•"/>
            </a:pPr>
            <a:r>
              <a:rPr lang="en-US" sz="1750" b="1" dirty="0"/>
              <a:t>Zaid:</a:t>
            </a:r>
            <a:r>
              <a:rPr lang="en-US" sz="1750" dirty="0"/>
              <a:t> 64.48% records show negative profit.</a:t>
            </a:r>
          </a:p>
          <a:p>
            <a:pPr marL="0" indent="0">
              <a:spcBef>
                <a:spcPts val="300"/>
              </a:spcBef>
              <a:buNone/>
            </a:pPr>
            <a:r>
              <a:rPr lang="en-US" sz="1750" dirty="0"/>
              <a:t>Profitability risk increases from Kharif → Rabi → Zaid.</a:t>
            </a:r>
          </a:p>
          <a:p>
            <a:pPr marL="0" indent="0">
              <a:spcBef>
                <a:spcPts val="300"/>
              </a:spcBef>
              <a:buNone/>
            </a:pPr>
            <a:r>
              <a:rPr lang="en-US" sz="1750" dirty="0"/>
              <a:t>Zaid shows the highest profitability risk, with nearly two-thirds of records having negative profit.</a:t>
            </a:r>
          </a:p>
          <a:p>
            <a:pPr marL="0" indent="0">
              <a:spcBef>
                <a:spcPts val="300"/>
              </a:spcBef>
              <a:buNone/>
            </a:pPr>
            <a:endParaRPr lang="en-US" sz="1800" dirty="0"/>
          </a:p>
          <a:p>
            <a:pPr marL="0" indent="0">
              <a:buNone/>
            </a:pPr>
            <a:endParaRPr lang="en-US" sz="1800" dirty="0"/>
          </a:p>
        </p:txBody>
      </p:sp>
      <p:sp>
        <p:nvSpPr>
          <p:cNvPr id="19" name="TextBox 18">
            <a:extLst>
              <a:ext uri="{FF2B5EF4-FFF2-40B4-BE49-F238E27FC236}">
                <a16:creationId xmlns:a16="http://schemas.microsoft.com/office/drawing/2014/main" id="{BF9A9B87-5830-8EB6-D3DD-EFE041289A96}"/>
              </a:ext>
            </a:extLst>
          </p:cNvPr>
          <p:cNvSpPr txBox="1"/>
          <p:nvPr/>
        </p:nvSpPr>
        <p:spPr>
          <a:xfrm>
            <a:off x="9346130" y="5062888"/>
            <a:ext cx="490889" cy="1145407"/>
          </a:xfrm>
          <a:prstGeom prst="rect">
            <a:avLst/>
          </a:prstGeom>
          <a:solidFill>
            <a:schemeClr val="bg1"/>
          </a:solidFill>
        </p:spPr>
        <p:txBody>
          <a:bodyPr wrap="square" rtlCol="0">
            <a:spAutoFit/>
          </a:bodyPr>
          <a:lstStyle/>
          <a:p>
            <a:endParaRPr lang="en-IN" dirty="0"/>
          </a:p>
        </p:txBody>
      </p:sp>
      <p:sp>
        <p:nvSpPr>
          <p:cNvPr id="20" name="Text Placeholder 6">
            <a:extLst>
              <a:ext uri="{FF2B5EF4-FFF2-40B4-BE49-F238E27FC236}">
                <a16:creationId xmlns:a16="http://schemas.microsoft.com/office/drawing/2014/main" id="{5BB44569-FFB0-29F5-BC8B-CAEA0D322D1F}"/>
              </a:ext>
            </a:extLst>
          </p:cNvPr>
          <p:cNvSpPr txBox="1">
            <a:spLocks/>
          </p:cNvSpPr>
          <p:nvPr/>
        </p:nvSpPr>
        <p:spPr>
          <a:xfrm>
            <a:off x="7219748" y="4749954"/>
            <a:ext cx="1969753" cy="40948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None/>
            </a:pPr>
            <a:r>
              <a:rPr lang="en-US" sz="2200" b="1" dirty="0"/>
              <a:t>Conclusion :  </a:t>
            </a:r>
          </a:p>
          <a:p>
            <a:pPr algn="just">
              <a:buFont typeface="Wingdings" panose="05000000000000000000" pitchFamily="2" charset="2"/>
              <a:buNone/>
            </a:pPr>
            <a:endParaRPr lang="en-US" sz="1800" dirty="0"/>
          </a:p>
        </p:txBody>
      </p:sp>
      <p:sp>
        <p:nvSpPr>
          <p:cNvPr id="21" name="TextBox 20">
            <a:extLst>
              <a:ext uri="{FF2B5EF4-FFF2-40B4-BE49-F238E27FC236}">
                <a16:creationId xmlns:a16="http://schemas.microsoft.com/office/drawing/2014/main" id="{95DBFA03-0864-D5C0-50F3-947E0CF55B85}"/>
              </a:ext>
            </a:extLst>
          </p:cNvPr>
          <p:cNvSpPr txBox="1"/>
          <p:nvPr/>
        </p:nvSpPr>
        <p:spPr>
          <a:xfrm>
            <a:off x="7238806" y="5243786"/>
            <a:ext cx="4705535" cy="1200329"/>
          </a:xfrm>
          <a:prstGeom prst="rect">
            <a:avLst/>
          </a:prstGeom>
          <a:solidFill>
            <a:schemeClr val="bg1"/>
          </a:solidFill>
        </p:spPr>
        <p:txBody>
          <a:bodyPr wrap="square">
            <a:spAutoFit/>
          </a:bodyPr>
          <a:lstStyle/>
          <a:p>
            <a:pPr algn="just">
              <a:buNone/>
            </a:pPr>
            <a:r>
              <a:rPr lang="en-US" dirty="0"/>
              <a:t>Profitability varies substantially across seasons, indicating that seasonal conditions and economic factors should be considered when evaluating agricultural performance. </a:t>
            </a:r>
            <a:endParaRPr lang="en-US" b="1" dirty="0"/>
          </a:p>
        </p:txBody>
      </p:sp>
    </p:spTree>
    <p:extLst>
      <p:ext uri="{BB962C8B-B14F-4D97-AF65-F5344CB8AC3E}">
        <p14:creationId xmlns:p14="http://schemas.microsoft.com/office/powerpoint/2010/main" val="185963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p:tgtEl>
                                          <p:spTgt spid="12"/>
                                        </p:tgtEl>
                                        <p:attrNameLst>
                                          <p:attrName>ppt_y</p:attrName>
                                        </p:attrNameLst>
                                      </p:cBhvr>
                                      <p:tavLst>
                                        <p:tav tm="0">
                                          <p:val>
                                            <p:strVal val="#ppt_y+#ppt_h*1.125000"/>
                                          </p:val>
                                        </p:tav>
                                        <p:tav tm="100000">
                                          <p:val>
                                            <p:strVal val="#ppt_y"/>
                                          </p:val>
                                        </p:tav>
                                      </p:tavLst>
                                    </p:anim>
                                    <p:animEffect transition="in" filter="wipe(up)">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animEffect transition="in" filter="fade">
                                      <p:cBhvr>
                                        <p:cTn id="31" dur="500"/>
                                        <p:tgtEl>
                                          <p:spTgt spid="18">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8">
                                            <p:txEl>
                                              <p:pRg st="1" end="1"/>
                                            </p:txEl>
                                          </p:spTgt>
                                        </p:tgtEl>
                                        <p:attrNameLst>
                                          <p:attrName>style.visibility</p:attrName>
                                        </p:attrNameLst>
                                      </p:cBhvr>
                                      <p:to>
                                        <p:strVal val="visible"/>
                                      </p:to>
                                    </p:set>
                                    <p:animEffect transition="in" filter="fade">
                                      <p:cBhvr>
                                        <p:cTn id="36" dur="500"/>
                                        <p:tgtEl>
                                          <p:spTgt spid="18">
                                            <p:txEl>
                                              <p:pRg st="1" end="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xEl>
                                              <p:pRg st="2" end="2"/>
                                            </p:txEl>
                                          </p:spTgt>
                                        </p:tgtEl>
                                        <p:attrNameLst>
                                          <p:attrName>style.visibility</p:attrName>
                                        </p:attrNameLst>
                                      </p:cBhvr>
                                      <p:to>
                                        <p:strVal val="visible"/>
                                      </p:to>
                                    </p:set>
                                    <p:animEffect transition="in" filter="fade">
                                      <p:cBhvr>
                                        <p:cTn id="39" dur="500"/>
                                        <p:tgtEl>
                                          <p:spTgt spid="18">
                                            <p:txEl>
                                              <p:pRg st="2" end="2"/>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xEl>
                                              <p:pRg st="3" end="3"/>
                                            </p:txEl>
                                          </p:spTgt>
                                        </p:tgtEl>
                                        <p:attrNameLst>
                                          <p:attrName>style.visibility</p:attrName>
                                        </p:attrNameLst>
                                      </p:cBhvr>
                                      <p:to>
                                        <p:strVal val="visible"/>
                                      </p:to>
                                    </p:set>
                                    <p:animEffect transition="in" filter="fade">
                                      <p:cBhvr>
                                        <p:cTn id="42" dur="500"/>
                                        <p:tgtEl>
                                          <p:spTgt spid="18">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xEl>
                                              <p:pRg st="4" end="4"/>
                                            </p:txEl>
                                          </p:spTgt>
                                        </p:tgtEl>
                                        <p:attrNameLst>
                                          <p:attrName>style.visibility</p:attrName>
                                        </p:attrNameLst>
                                      </p:cBhvr>
                                      <p:to>
                                        <p:strVal val="visible"/>
                                      </p:to>
                                    </p:set>
                                    <p:animEffect transition="in" filter="fade">
                                      <p:cBhvr>
                                        <p:cTn id="47" dur="500"/>
                                        <p:tgtEl>
                                          <p:spTgt spid="18">
                                            <p:txEl>
                                              <p:pRg st="4" end="4"/>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xEl>
                                              <p:pRg st="5" end="5"/>
                                            </p:txEl>
                                          </p:spTgt>
                                        </p:tgtEl>
                                        <p:attrNameLst>
                                          <p:attrName>style.visibility</p:attrName>
                                        </p:attrNameLst>
                                      </p:cBhvr>
                                      <p:to>
                                        <p:strVal val="visible"/>
                                      </p:to>
                                    </p:set>
                                    <p:animEffect transition="in" filter="fade">
                                      <p:cBhvr>
                                        <p:cTn id="50" dur="500"/>
                                        <p:tgtEl>
                                          <p:spTgt spid="18">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8" grpId="0" build="p"/>
      <p:bldP spid="20" grpId="0"/>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8" name="Picture 17">
            <a:extLst>
              <a:ext uri="{FF2B5EF4-FFF2-40B4-BE49-F238E27FC236}">
                <a16:creationId xmlns:a16="http://schemas.microsoft.com/office/drawing/2014/main" id="{ED0BB0FE-1450-A030-3F50-FDFFF85113A8}"/>
              </a:ext>
            </a:extLst>
          </p:cNvPr>
          <p:cNvPicPr>
            <a:picLocks noChangeAspect="1"/>
          </p:cNvPicPr>
          <p:nvPr/>
        </p:nvPicPr>
        <p:blipFill>
          <a:blip r:embed="rId3"/>
          <a:stretch>
            <a:fillRect/>
          </a:stretch>
        </p:blipFill>
        <p:spPr>
          <a:xfrm>
            <a:off x="6017474" y="1698561"/>
            <a:ext cx="2181225" cy="485775"/>
          </a:xfrm>
          <a:prstGeom prst="rect">
            <a:avLst/>
          </a:prstGeom>
        </p:spPr>
      </p:pic>
      <p:sp>
        <p:nvSpPr>
          <p:cNvPr id="21" name="Text Placeholder 1">
            <a:extLst>
              <a:ext uri="{FF2B5EF4-FFF2-40B4-BE49-F238E27FC236}">
                <a16:creationId xmlns:a16="http://schemas.microsoft.com/office/drawing/2014/main" id="{B6638301-F501-25D6-3FEB-A35768DA2C83}"/>
              </a:ext>
            </a:extLst>
          </p:cNvPr>
          <p:cNvSpPr>
            <a:spLocks noGrp="1"/>
          </p:cNvSpPr>
          <p:nvPr>
            <p:ph type="body" sz="quarter" idx="12"/>
          </p:nvPr>
        </p:nvSpPr>
        <p:spPr>
          <a:xfrm>
            <a:off x="788735" y="1347536"/>
            <a:ext cx="7941378" cy="5038826"/>
          </a:xfrm>
        </p:spPr>
        <p:txBody>
          <a:bodyPr>
            <a:normAutofit fontScale="55000" lnSpcReduction="20000"/>
          </a:bodyPr>
          <a:lstStyle/>
          <a:p>
            <a:r>
              <a:rPr lang="en-US" sz="3600" b="1" dirty="0"/>
              <a:t>Multi-year data:</a:t>
            </a:r>
            <a:r>
              <a:rPr lang="en-US" sz="3600" dirty="0"/>
              <a:t> Analyze long-term seasonal trends and changes. </a:t>
            </a:r>
          </a:p>
          <a:p>
            <a:r>
              <a:rPr lang="en-US" sz="3600" b="1" dirty="0"/>
              <a:t>Regional analysis:</a:t>
            </a:r>
            <a:r>
              <a:rPr lang="en-US" sz="3600" dirty="0"/>
              <a:t> Compare agricultural performance across states and districts. </a:t>
            </a:r>
          </a:p>
          <a:p>
            <a:r>
              <a:rPr lang="en-US" sz="3600" b="1" dirty="0"/>
              <a:t>More environmental data:</a:t>
            </a:r>
            <a:r>
              <a:rPr lang="en-US" sz="3600" dirty="0"/>
              <a:t> Include detailed weather and climate variables. </a:t>
            </a:r>
          </a:p>
          <a:p>
            <a:r>
              <a:rPr lang="en-US" sz="3600" b="1" dirty="0"/>
              <a:t>Crop profitability analysis:</a:t>
            </a:r>
            <a:r>
              <a:rPr lang="en-US" sz="3600" dirty="0"/>
              <a:t> Study cost, revenue and market-price patterns for individual crops. </a:t>
            </a:r>
          </a:p>
          <a:p>
            <a:r>
              <a:rPr lang="en-US" sz="3600" b="1" dirty="0"/>
              <a:t>Water management:</a:t>
            </a:r>
            <a:r>
              <a:rPr lang="en-US" sz="3600" dirty="0"/>
              <a:t> Further investigate irrigation and water-efficiency patterns. </a:t>
            </a:r>
          </a:p>
          <a:p>
            <a:r>
              <a:rPr lang="en-US" sz="3600" b="1" dirty="0"/>
              <a:t>More agricultural variables:</a:t>
            </a:r>
            <a:r>
              <a:rPr lang="en-US" sz="3600" dirty="0"/>
              <a:t> Include additional soil, farming and input-related factors. </a:t>
            </a:r>
          </a:p>
          <a:p>
            <a:r>
              <a:rPr lang="en-US" sz="3600" b="1" dirty="0"/>
              <a:t>Larger datasets:</a:t>
            </a:r>
            <a:r>
              <a:rPr lang="en-US" sz="3600" dirty="0"/>
              <a:t> Improve the reliability and generalizability of the findings. </a:t>
            </a:r>
          </a:p>
          <a:p>
            <a:r>
              <a:rPr lang="en-US" sz="3600" b="1" dirty="0"/>
              <a:t>Predictive analytics:</a:t>
            </a:r>
            <a:r>
              <a:rPr lang="en-US" sz="3600" dirty="0"/>
              <a:t> Future work could use forecasting or Machine Learning after sufficient historical data is available.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xEl>
                                              <p:pRg st="0" end="0"/>
                                            </p:txEl>
                                          </p:spTgt>
                                        </p:tgtEl>
                                        <p:attrNameLst>
                                          <p:attrName>style.visibility</p:attrName>
                                        </p:attrNameLst>
                                      </p:cBhvr>
                                      <p:to>
                                        <p:strVal val="visible"/>
                                      </p:to>
                                    </p:set>
                                    <p:animEffect transition="in" filter="fade">
                                      <p:cBhvr>
                                        <p:cTn id="21" dur="1000"/>
                                        <p:tgtEl>
                                          <p:spTgt spid="21">
                                            <p:txEl>
                                              <p:pRg st="0" end="0"/>
                                            </p:txEl>
                                          </p:spTgt>
                                        </p:tgtEl>
                                      </p:cBhvr>
                                    </p:animEffect>
                                    <p:anim calcmode="lin" valueType="num">
                                      <p:cBhvr>
                                        <p:cTn id="22"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1">
                                            <p:txEl>
                                              <p:pRg st="1" end="1"/>
                                            </p:txEl>
                                          </p:spTgt>
                                        </p:tgtEl>
                                        <p:attrNameLst>
                                          <p:attrName>style.visibility</p:attrName>
                                        </p:attrNameLst>
                                      </p:cBhvr>
                                      <p:to>
                                        <p:strVal val="visible"/>
                                      </p:to>
                                    </p:set>
                                    <p:animEffect transition="in" filter="fade">
                                      <p:cBhvr>
                                        <p:cTn id="28" dur="1000"/>
                                        <p:tgtEl>
                                          <p:spTgt spid="21">
                                            <p:txEl>
                                              <p:pRg st="1" end="1"/>
                                            </p:txEl>
                                          </p:spTgt>
                                        </p:tgtEl>
                                      </p:cBhvr>
                                    </p:animEffect>
                                    <p:anim calcmode="lin" valueType="num">
                                      <p:cBhvr>
                                        <p:cTn id="29" dur="100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2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1">
                                            <p:txEl>
                                              <p:pRg st="2" end="2"/>
                                            </p:txEl>
                                          </p:spTgt>
                                        </p:tgtEl>
                                        <p:attrNameLst>
                                          <p:attrName>style.visibility</p:attrName>
                                        </p:attrNameLst>
                                      </p:cBhvr>
                                      <p:to>
                                        <p:strVal val="visible"/>
                                      </p:to>
                                    </p:set>
                                    <p:animEffect transition="in" filter="fade">
                                      <p:cBhvr>
                                        <p:cTn id="35" dur="1000"/>
                                        <p:tgtEl>
                                          <p:spTgt spid="21">
                                            <p:txEl>
                                              <p:pRg st="2" end="2"/>
                                            </p:txEl>
                                          </p:spTgt>
                                        </p:tgtEl>
                                      </p:cBhvr>
                                    </p:animEffect>
                                    <p:anim calcmode="lin" valueType="num">
                                      <p:cBhvr>
                                        <p:cTn id="36" dur="1000" fill="hold"/>
                                        <p:tgtEl>
                                          <p:spTgt spid="21">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2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1">
                                            <p:txEl>
                                              <p:pRg st="3" end="3"/>
                                            </p:txEl>
                                          </p:spTgt>
                                        </p:tgtEl>
                                        <p:attrNameLst>
                                          <p:attrName>style.visibility</p:attrName>
                                        </p:attrNameLst>
                                      </p:cBhvr>
                                      <p:to>
                                        <p:strVal val="visible"/>
                                      </p:to>
                                    </p:set>
                                    <p:animEffect transition="in" filter="fade">
                                      <p:cBhvr>
                                        <p:cTn id="42" dur="1000"/>
                                        <p:tgtEl>
                                          <p:spTgt spid="21">
                                            <p:txEl>
                                              <p:pRg st="3" end="3"/>
                                            </p:txEl>
                                          </p:spTgt>
                                        </p:tgtEl>
                                      </p:cBhvr>
                                    </p:animEffect>
                                    <p:anim calcmode="lin" valueType="num">
                                      <p:cBhvr>
                                        <p:cTn id="43" dur="1000" fill="hold"/>
                                        <p:tgtEl>
                                          <p:spTgt spid="21">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2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1">
                                            <p:txEl>
                                              <p:pRg st="4" end="4"/>
                                            </p:txEl>
                                          </p:spTgt>
                                        </p:tgtEl>
                                        <p:attrNameLst>
                                          <p:attrName>style.visibility</p:attrName>
                                        </p:attrNameLst>
                                      </p:cBhvr>
                                      <p:to>
                                        <p:strVal val="visible"/>
                                      </p:to>
                                    </p:set>
                                    <p:animEffect transition="in" filter="fade">
                                      <p:cBhvr>
                                        <p:cTn id="49" dur="1000"/>
                                        <p:tgtEl>
                                          <p:spTgt spid="21">
                                            <p:txEl>
                                              <p:pRg st="4" end="4"/>
                                            </p:txEl>
                                          </p:spTgt>
                                        </p:tgtEl>
                                      </p:cBhvr>
                                    </p:animEffect>
                                    <p:anim calcmode="lin" valueType="num">
                                      <p:cBhvr>
                                        <p:cTn id="50" dur="1000" fill="hold"/>
                                        <p:tgtEl>
                                          <p:spTgt spid="21">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2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1">
                                            <p:txEl>
                                              <p:pRg st="5" end="5"/>
                                            </p:txEl>
                                          </p:spTgt>
                                        </p:tgtEl>
                                        <p:attrNameLst>
                                          <p:attrName>style.visibility</p:attrName>
                                        </p:attrNameLst>
                                      </p:cBhvr>
                                      <p:to>
                                        <p:strVal val="visible"/>
                                      </p:to>
                                    </p:set>
                                    <p:animEffect transition="in" filter="fade">
                                      <p:cBhvr>
                                        <p:cTn id="56" dur="1000"/>
                                        <p:tgtEl>
                                          <p:spTgt spid="21">
                                            <p:txEl>
                                              <p:pRg st="5" end="5"/>
                                            </p:txEl>
                                          </p:spTgt>
                                        </p:tgtEl>
                                      </p:cBhvr>
                                    </p:animEffect>
                                    <p:anim calcmode="lin" valueType="num">
                                      <p:cBhvr>
                                        <p:cTn id="57" dur="1000" fill="hold"/>
                                        <p:tgtEl>
                                          <p:spTgt spid="21">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2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1">
                                            <p:txEl>
                                              <p:pRg st="6" end="6"/>
                                            </p:txEl>
                                          </p:spTgt>
                                        </p:tgtEl>
                                        <p:attrNameLst>
                                          <p:attrName>style.visibility</p:attrName>
                                        </p:attrNameLst>
                                      </p:cBhvr>
                                      <p:to>
                                        <p:strVal val="visible"/>
                                      </p:to>
                                    </p:set>
                                    <p:animEffect transition="in" filter="fade">
                                      <p:cBhvr>
                                        <p:cTn id="63" dur="1000"/>
                                        <p:tgtEl>
                                          <p:spTgt spid="21">
                                            <p:txEl>
                                              <p:pRg st="6" end="6"/>
                                            </p:txEl>
                                          </p:spTgt>
                                        </p:tgtEl>
                                      </p:cBhvr>
                                    </p:animEffect>
                                    <p:anim calcmode="lin" valueType="num">
                                      <p:cBhvr>
                                        <p:cTn id="64" dur="1000" fill="hold"/>
                                        <p:tgtEl>
                                          <p:spTgt spid="21">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2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1">
                                            <p:txEl>
                                              <p:pRg st="7" end="7"/>
                                            </p:txEl>
                                          </p:spTgt>
                                        </p:tgtEl>
                                        <p:attrNameLst>
                                          <p:attrName>style.visibility</p:attrName>
                                        </p:attrNameLst>
                                      </p:cBhvr>
                                      <p:to>
                                        <p:strVal val="visible"/>
                                      </p:to>
                                    </p:set>
                                    <p:animEffect transition="in" filter="fade">
                                      <p:cBhvr>
                                        <p:cTn id="70" dur="1000"/>
                                        <p:tgtEl>
                                          <p:spTgt spid="21">
                                            <p:txEl>
                                              <p:pRg st="7" end="7"/>
                                            </p:txEl>
                                          </p:spTgt>
                                        </p:tgtEl>
                                      </p:cBhvr>
                                    </p:animEffect>
                                    <p:anim calcmode="lin" valueType="num">
                                      <p:cBhvr>
                                        <p:cTn id="71" dur="1000" fill="hold"/>
                                        <p:tgtEl>
                                          <p:spTgt spid="21">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2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9BB3246F-5A3C-E219-9154-83122F369097}"/>
              </a:ext>
            </a:extLst>
          </p:cNvPr>
          <p:cNvPicPr>
            <a:picLocks noChangeAspect="1"/>
          </p:cNvPicPr>
          <p:nvPr/>
        </p:nvPicPr>
        <p:blipFill>
          <a:blip r:embed="rId3"/>
          <a:stretch>
            <a:fillRect/>
          </a:stretch>
        </p:blipFill>
        <p:spPr>
          <a:xfrm>
            <a:off x="5917344" y="1698561"/>
            <a:ext cx="2181225" cy="485775"/>
          </a:xfrm>
          <a:prstGeom prst="rect">
            <a:avLst/>
          </a:prstGeom>
        </p:spPr>
      </p:pic>
      <p:sp>
        <p:nvSpPr>
          <p:cNvPr id="6" name="TextBox 5">
            <a:extLst>
              <a:ext uri="{FF2B5EF4-FFF2-40B4-BE49-F238E27FC236}">
                <a16:creationId xmlns:a16="http://schemas.microsoft.com/office/drawing/2014/main" id="{5F0B37E4-66B1-8633-7266-68B321742757}"/>
              </a:ext>
            </a:extLst>
          </p:cNvPr>
          <p:cNvSpPr txBox="1"/>
          <p:nvPr/>
        </p:nvSpPr>
        <p:spPr>
          <a:xfrm>
            <a:off x="675957" y="1353339"/>
            <a:ext cx="8597625" cy="830997"/>
          </a:xfrm>
          <a:prstGeom prst="rect">
            <a:avLst/>
          </a:prstGeom>
          <a:noFill/>
        </p:spPr>
        <p:txBody>
          <a:bodyPr wrap="square">
            <a:spAutoFit/>
          </a:bodyPr>
          <a:lstStyle/>
          <a:p>
            <a:r>
              <a:rPr lang="en-US" sz="2400" dirty="0">
                <a:solidFill>
                  <a:schemeClr val="accent1">
                    <a:lumMod val="75000"/>
                  </a:schemeClr>
                </a:solidFill>
                <a:hlinkClick r:id="rId4">
                  <a:extLst>
                    <a:ext uri="{A12FA001-AC4F-418D-AE19-62706E023703}">
                      <ahyp:hlinkClr xmlns:ahyp="http://schemas.microsoft.com/office/drawing/2018/hyperlinkcolor" val="tx"/>
                    </a:ext>
                  </a:extLst>
                </a:hlinkClick>
              </a:rPr>
              <a:t>https://github.com/Disha-Singhvi/Seasonal-Agriculture-Performance-Analysis</a:t>
            </a:r>
            <a:endParaRPr lang="en-US" sz="2400" dirty="0">
              <a:solidFill>
                <a:schemeClr val="accent1">
                  <a:lumMod val="75000"/>
                </a:schemeClr>
              </a:solidFill>
            </a:endParaRPr>
          </a:p>
        </p:txBody>
      </p:sp>
      <p:sp>
        <p:nvSpPr>
          <p:cNvPr id="11" name="Text Placeholder 8">
            <a:extLst>
              <a:ext uri="{FF2B5EF4-FFF2-40B4-BE49-F238E27FC236}">
                <a16:creationId xmlns:a16="http://schemas.microsoft.com/office/drawing/2014/main" id="{520C98C7-16A6-01CA-C1A2-EBE47F3D26B9}"/>
              </a:ext>
            </a:extLst>
          </p:cNvPr>
          <p:cNvSpPr>
            <a:spLocks noGrp="1"/>
          </p:cNvSpPr>
          <p:nvPr>
            <p:ph type="body" sz="quarter" idx="12"/>
          </p:nvPr>
        </p:nvSpPr>
        <p:spPr>
          <a:xfrm>
            <a:off x="591030" y="2712496"/>
            <a:ext cx="8475968" cy="3952464"/>
          </a:xfrm>
        </p:spPr>
        <p:txBody>
          <a:bodyPr>
            <a:noAutofit/>
          </a:bodyPr>
          <a:lstStyle/>
          <a:p>
            <a:pPr marL="0" indent="0">
              <a:lnSpc>
                <a:spcPct val="150000"/>
              </a:lnSpc>
              <a:buNone/>
            </a:pPr>
            <a:r>
              <a:rPr lang="en-US" sz="2400" b="1" dirty="0"/>
              <a:t>Repository contains:</a:t>
            </a:r>
            <a:endParaRPr lang="en-US" sz="2400" dirty="0"/>
          </a:p>
          <a:p>
            <a:r>
              <a:rPr lang="en-US" sz="2400" dirty="0"/>
              <a:t>Complete </a:t>
            </a:r>
            <a:r>
              <a:rPr lang="en-US" sz="2400" dirty="0" err="1"/>
              <a:t>Jupyter</a:t>
            </a:r>
            <a:r>
              <a:rPr lang="en-US" sz="2400" dirty="0"/>
              <a:t> Notebook </a:t>
            </a:r>
          </a:p>
          <a:p>
            <a:r>
              <a:rPr lang="en-US" sz="2400" dirty="0"/>
              <a:t>Dataset </a:t>
            </a:r>
          </a:p>
          <a:p>
            <a:r>
              <a:rPr lang="en-US" sz="2400" dirty="0"/>
              <a:t>Project Presentation </a:t>
            </a:r>
          </a:p>
          <a:p>
            <a:r>
              <a:rPr lang="en-US" sz="2400" dirty="0"/>
              <a:t>Project Problem Statement Pdf</a:t>
            </a:r>
          </a:p>
          <a:p>
            <a:r>
              <a:rPr lang="en-US" sz="2400" dirty="0"/>
              <a:t>README with project overview, analysis and key findings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animEffect transition="in" filter="fade">
                                      <p:cBhvr>
                                        <p:cTn id="19" dur="500"/>
                                        <p:tgtEl>
                                          <p:spTgt spid="11">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xEl>
                                              <p:pRg st="1" end="1"/>
                                            </p:txEl>
                                          </p:spTgt>
                                        </p:tgtEl>
                                        <p:attrNameLst>
                                          <p:attrName>style.visibility</p:attrName>
                                        </p:attrNameLst>
                                      </p:cBhvr>
                                      <p:to>
                                        <p:strVal val="visible"/>
                                      </p:to>
                                    </p:set>
                                    <p:animEffect transition="in" filter="fade">
                                      <p:cBhvr>
                                        <p:cTn id="22" dur="500"/>
                                        <p:tgtEl>
                                          <p:spTgt spid="11">
                                            <p:txEl>
                                              <p:pRg st="1" end="1"/>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Effect transition="in" filter="fade">
                                      <p:cBhvr>
                                        <p:cTn id="25" dur="500"/>
                                        <p:tgtEl>
                                          <p:spTgt spid="11">
                                            <p:txEl>
                                              <p:pRg st="2" end="2"/>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500"/>
                                        <p:tgtEl>
                                          <p:spTgt spid="11">
                                            <p:txEl>
                                              <p:pRg st="3" end="3"/>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xEl>
                                              <p:pRg st="4" end="4"/>
                                            </p:txEl>
                                          </p:spTgt>
                                        </p:tgtEl>
                                        <p:attrNameLst>
                                          <p:attrName>style.visibility</p:attrName>
                                        </p:attrNameLst>
                                      </p:cBhvr>
                                      <p:to>
                                        <p:strVal val="visible"/>
                                      </p:to>
                                    </p:set>
                                    <p:animEffect transition="in" filter="fade">
                                      <p:cBhvr>
                                        <p:cTn id="31" dur="500"/>
                                        <p:tgtEl>
                                          <p:spTgt spid="11">
                                            <p:txEl>
                                              <p:pRg st="4" end="4"/>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xEl>
                                              <p:pRg st="5" end="5"/>
                                            </p:txEl>
                                          </p:spTgt>
                                        </p:tgtEl>
                                        <p:attrNameLst>
                                          <p:attrName>style.visibility</p:attrName>
                                        </p:attrNameLst>
                                      </p:cBhvr>
                                      <p:to>
                                        <p:strVal val="visible"/>
                                      </p:to>
                                    </p:set>
                                    <p:animEffect transition="in" filter="fade">
                                      <p:cBhvr>
                                        <p:cTn id="34"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204318" y="386080"/>
            <a:ext cx="10614477" cy="884658"/>
          </a:xfrm>
        </p:spPr>
        <p:txBody>
          <a:bodyPr>
            <a:normAutofit fontScale="90000"/>
          </a:bodyPr>
          <a:lstStyle/>
          <a:p>
            <a:pPr algn="ctr"/>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F87BEAC-3A7A-87B0-BB0F-B66236AD6FCB}"/>
              </a:ext>
            </a:extLst>
          </p:cNvPr>
          <p:cNvPicPr>
            <a:picLocks noChangeAspect="1"/>
          </p:cNvPicPr>
          <p:nvPr/>
        </p:nvPicPr>
        <p:blipFill>
          <a:blip r:embed="rId3"/>
          <a:stretch>
            <a:fillRect/>
          </a:stretch>
        </p:blipFill>
        <p:spPr>
          <a:xfrm>
            <a:off x="2126211" y="1657208"/>
            <a:ext cx="6770689" cy="481471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20394" y="1694046"/>
            <a:ext cx="13375907" cy="3239631"/>
          </a:xfrm>
          <a:prstGeom prst="rect">
            <a:avLst/>
          </a:prstGeom>
        </p:spPr>
        <p:txBody>
          <a:bodyPr anchor="ctr">
            <a:normAutofit/>
          </a:bodyPr>
          <a:lstStyle/>
          <a:p>
            <a:pPr algn="ctr"/>
            <a:r>
              <a:rPr lang="en-US" sz="96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3016</TotalTime>
  <Words>990</Words>
  <Application>Microsoft Office PowerPoint</Application>
  <PresentationFormat>Widescreen</PresentationFormat>
  <Paragraphs>152</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PowerPoint Presentation</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Aditi Singhvi</cp:lastModifiedBy>
  <cp:revision>101</cp:revision>
  <dcterms:created xsi:type="dcterms:W3CDTF">2021-07-11T13:13:15Z</dcterms:created>
  <dcterms:modified xsi:type="dcterms:W3CDTF">2026-09-10T15:42:59Z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